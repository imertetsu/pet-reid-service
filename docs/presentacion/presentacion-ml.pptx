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3b969a0f-f907-2549-74b9-4e7189f3324f}">
          <p14:sldIdLst>
            <p14:sldId id="256"/>
          </p14:sldIdLst>
        </p14:section>
        <p14:section name="Solución" id="{4b4ac7b5-e628-32c1-40fb-f3843c751f7c}">
          <p14:sldIdLst>
            <p14:sldId id="257"/>
          </p14:sldIdLst>
        </p14:section>
        <p14:section name="Resultados" id="{72fd74d7-a034-332f-f8fc-ce44a6f94efc}">
          <p14:sldIdLst>
            <p14:sldId id="258"/>
          </p14:sldIdLst>
        </p14:section>
        <p14:section name="Cierre" id="{ecc7fe63-88a0-57e8-ee01-9d4e7b2caa5e}">
          <p14:sldIdLst>
            <p14:sldId id="259"/>
            <p14:sldId id="260"/>
          </p14:sldIdLst>
        </p14:section>
        <p14:section name="Respaldo" id="{649f14e9-4ebd-e938-25e4-4239064a9e6a}">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2F"/>
                </a:solidFill>
                <a:latin typeface="+mn-lt"/>
              </a:defRPr>
            </a:pPr>
            <a:r>
              <a:rPr sz="1400" b="0" i="0" u="none" strike="noStrike">
                <a:solidFill>
                  <a:srgbClr val="1B2A2F"/>
                </a:solidFill>
                <a:latin typeface="+mn-lt"/>
              </a:rPr>
              <a:t>Top-1 en prueba: % de veces que el perro correcto sale primero</a:t>
            </a:r>
          </a:p>
        </c:rich>
      </c:tx>
      <c:layout/>
      <c:overlay val="0"/>
    </c:title>
    <c:autoTitleDeleted val="0"/>
    <c:plotArea>
      <c:layout/>
      <c:barChart>
        <c:barDir val="col"/>
        <c:grouping val="clustered"/>
        <c:varyColors val="0"/>
        <c:ser>
          <c:idx val="0"/>
          <c:order val="0"/>
          <c:tx>
            <c:strRef>
              <c:f>Sheet1!$B$1</c:f>
              <c:strCache>
                <c:ptCount val="1"/>
                <c:pt idx="0">
                  <c:v>Top-1 en prueba</c:v>
                </c:pt>
              </c:strCache>
            </c:strRef>
          </c:tx>
          <c:spPr>
            <a:solidFill>
              <a:srgbClr val="9AA5A3"/>
            </a:solidFill>
            <a:effectLst/>
          </c:spPr>
          <c:invertIfNegative val="0"/>
          <c:dLbls>
            <c:numFmt formatCode="0.0&quot;%&quot;" sourceLinked="0"/>
            <c:txPr>
              <a:bodyPr/>
              <a:lstStyle/>
              <a:p>
                <a:pPr>
                  <a:defRPr b="1" i="0" strike="noStrike" sz="16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9AA5A3"/>
              </a:solidFill>
              <a:effectLst/>
            </c:spPr>
          </c:dPt>
          <c:dPt>
            <c:idx val="1"/>
            <c:invertIfNegative val="0"/>
            <c:bubble3D val="0"/>
            <c:spPr>
              <a:solidFill>
                <a:srgbClr val="4C9A8A"/>
              </a:solidFill>
              <a:effectLst/>
            </c:spPr>
          </c:dPt>
          <c:dPt>
            <c:idx val="2"/>
            <c:invertIfNegative val="0"/>
            <c:bubble3D val="0"/>
            <c:spPr>
              <a:solidFill>
                <a:srgbClr val="E8963B"/>
              </a:solidFill>
              <a:effectLst/>
            </c:spPr>
          </c:dPt>
          <c:cat>
            <c:multiLvlStrRef>
              <c:f>Sheet1!$A$2:$A$4</c:f>
              <c:multiLvlStrCache>
                <c:ptCount val="3"/>
                <c:lvl>
                  <c:pt idx="0">
                    <c:v>Línea base: ResNet50</c:v>
                  </c:pt>
                  <c:pt idx="1">
                    <c:v>ResNet50 + siamesa</c:v>
                  </c:pt>
                  <c:pt idx="2">
                    <c:v>ResNet50 + PCA + LDA</c:v>
                  </c:pt>
                </c:lvl>
              </c:multiLvlStrCache>
            </c:multiLvlStrRef>
          </c:cat>
          <c:val>
            <c:numRef>
              <c:f>Sheet1!$B$2:$B$4</c:f>
              <c:numCache>
                <c:formatCode>General</c:formatCode>
                <c:ptCount val="3"/>
                <c:pt idx="0">
                  <c:v>73.2</c:v>
                </c:pt>
                <c:pt idx="1">
                  <c:v>76</c:v>
                </c:pt>
                <c:pt idx="2">
                  <c:v>83.2</c:v>
                </c:pt>
              </c:numCache>
            </c:numRef>
          </c:val>
        </c:ser>
        <c:dLbls>
          <c:numFmt formatCode="0.0&quot;%&quot;" sourceLinked="0"/>
          <c:txPr>
            <a:bodyPr/>
            <a:lstStyle/>
            <a:p>
              <a:pPr>
                <a:defRPr b="1" i="0" strike="noStrike" sz="1600" u="none">
                  <a:solidFill>
                    <a:srgbClr val="1B2A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1E7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E6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~20 segundos
QUÉ DECIR:
"Buenos días. Soy Imer Coaguila. Mi proyecto se llama 'Encontré una mascota'. Es un microservicio de Machine Learning para Pets Location, la plataforma de mi tesis, que identifica a un perro perdido a partir de una foto de su cara y muestra dónde está su collar."
CONCEPTOS:
- Microservicio: aplicación independiente que se ejecuta sola y ofrece su función a través de una API (aquí, en el puerto 9100).
- Reidentificación: reconocer al mismo individuo (no la raza) en fotos distintas.
- DogFaceNet: dataset público de fotos reales de caras de perros (CC BY 4.0); las fotos de la portada son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~50 segundos
QUÉ DECIR:
"El problema: alguien encuentra un perro y no sabe si está registrado ni quién es su dueño.
El sistema tiene dos partes. Arriba, el entrenamiento, que se hace una sola vez: tomé 2.517 fotos de 338 perros de DogFaceNet. ResNet50, una red ya entrenada con ImageNet, convierte cada foto en 2.048 números; esa red no la entreno, la reutilizo (en azul oscuro). Lo que sí entreno está en naranja: PCA resume esos números a 512, y LDA, usando a qué perro pertenece cada foto, aprende qué distingue a un perro de otro y deja 128 números. Al final, con otros 113 perros de validación, calculo el umbral.
Abajo, el uso, que ocurre en cada búsqueda: la foto encontrada pasa por la misma ResNet50 y por el PCA + LDA ya aprendidos, se compara con los 85 perros registrados, se muestran los 3 más parecidos, y si la distancia del primero está bajo el umbral se sugiere al dueño y la ubicación del collar.
En total usé 4.168 fotos de 564 perros, separados por perro en entrenamiento (338), validación (113) y prueba (113). Así, ningún perro de la prueba se vio antes."
CONCEPTOS:
- ResNet50: red neuronal convolucional de 50 capas, entrenada por otros con ImageNet (más de 1 millón de fotos). Aquí NO se entrena: se usa para convertir cada foto en 2.048 números.
- Transfer learning: reutilizar un modelo ya entrenado en lugar de entrenarlo desde cero.
- Vector de características: la "huella numérica" de una foto; fotos parecidas dan vectores cercanos.
- PCA: técnica NO supervisada (no usa etiquetas). Resume 2.048 números en 512, quitando información redundante.
- LDA: técnica SUPERVISADA (usa a qué perro pertenece cada foto). Aprende a juntar las fotos del mismo perro y separar las de perros distintos. Deja 128 números.
- Distancia: qué tan distintas son dos fotos. Pequeña = se parecen. NO es una probabilidad.
- Umbral: distancia máxima para decir "es este perro". Se eligió con validación.
- Partición por perro: evita la fuga de datos (que el mismo perro esté en entrenamiento y en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~50 segundos + DEMO 2 minutos
QUÉ DECIR:
"Comparé tres métodos con el mismo conjunto de prueba.
La línea base, ResNet50 sin entrenar nada, identifica al perro correcto en primer lugar el 73,2 % de las veces.
La red siamesa, un modelo de aprendizaje profundo que aprende comparando pares de fotos, llega a 76 %.
PCA + LDA llega a 83,2 %: 10 puntos más que la línea base. Y el perro correcto está entre los 3 candidatos el 93 % de las veces.
El método y el umbral se eligieron solo con validación; la prueba se evaluó una sola vez, como un examen final.
Ahora lo muestro funcionando."
DEMO (antes de presentar: tener abierto http://127.0.0.1:9100 con "python run.py" o "docker compose up -d"):
1. CASO VÁLIDO: primera foto de la fila 1 ("registrado") y pulsar "Buscar coincidencia".
   Resultado: reconoce a Bella (distancia 0,896 bajo el umbral 0,936).
   Decir: "Encontró a la mascota: la distancia está bajo el umbral. Aquí está su dueño y la última ubicación del collar." Pulsar "Simular nueva señal".
2. PERRO DESCONOCIDO: PRIMERA foto de la fila 2 ("sin registro") y buscar.
   Resultado: "Sin coincidencia" (0,969 sobre el umbral).
   Decir: "Este perro no está registrado. El sistema no inventa un dueño: responde 'sin coincidencia'."
3. LÍMITE (el error relevante que pide el enunciado): SEGUNDA foto de la fila 2 ("sin registro") y buscar.
   Resultado: acepta por error a Pancho (0,822 bajo el umbral).
   Decir: "Aquí falla: este perro no está registrado, pero se parece muchísimo a Pancho, mismo pelaje gris y rizado, y el sistema lo acepta. Es una falsa aceptación, el 8,8 % que mencioné. Por eso la coincidencia es solo una sugerencia que se confirma con el dueño, y se muestran 3 candidatos."
4. (Si hay tiempo) Las fotos "error del modelo" de la fila 3 son perros registrados que el sistema NO reconoce: responde "sin coincidencia" aunque sí están en la galería (falso rechazo).
NO usar como "caso desconocido" la segunda foto de la fila 2: es justamente la que falla.
PLAN B si algo falla: mostrar las capturas del informe (figuras 2, 3 y 4).
CONCEPTOS:
- Línea base: método sencillo sin entrenamiento para comparar; responde "¿mi modelo aporta algo?".
- Top-1 (métrica principal): % de veces que el perro correcto sale PRIMERO.
- Recall@3: % de veces que el perro correcto está entre los 3 candidatos que se muestran.
- Validación: los "exámenes de práctica" para elegir método y umbral.
- Prueba: el "examen final"; se usa una sola vez y no se ajusta nada después.
- Red siamesa: modelo de aprendizaje profundo que recibe DOS fotos, las procesa con la misma red (pesos compartidos) y aprende con pares: "mismo perro: acerca sus vectores; perros distintos: aléjalos". La regla de aprendizaje se llama pérdida contrastiva.
- Por qué se incluyó la siamesa: es el enfoque más usado para verificar si dos fotos son del mismo individuo (rostros, firmas). Sirve para comparar un método clásico (LDA) contra uno de deep learning con las mismas características de ResNet50.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~40 segundos
QUÉ DECIR:
"Conclusiones: un método clásico de Machine Learning, LDA, superó a la línea base en 10 puntos. Con solo 338 perros para aprender, LDA calcula la solución directamente con una fórmula, mientras que la red siamesa se sobreajusta en pocas épocas. Y la comparación es confiable porque separé los datos por perro y no ajusté nada con la prueba.
Limitaciones: el umbral aceptó 8,8 % de perros sin registro cuando el objetivo era 5 %, porque no se transfiere perfecto a perros nuevos. El sistema necesita la cara centrada, porque no detecta rostros. Y confunde perros casi idénticos, como estos dos cachorros.
Con más datos mejora: con 100 perros llega a 84 % y con 338 a casi 88 % en validación; son unos 2 puntos cada vez que se duplica la cantidad de perros."
CONCEPTOS:
- FAR (tasa de falsa aceptación): % de perros NO registrados a los que el sistema les sugiere un dueño por error. Es el error más grave.
- Sobreajuste: el modelo memoriza los datos de entrenamiento y le va mal con perros nuevos.
- Shrinkage: ajuste que estabiliza LDA cuando hay pocas fotos para muchas variables.
- Cambio de dominio: el modelo aprendió con caras recortadas y alineadas; una foto de celular de cuerpo completo es distinta y falla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~20 segundos
QUÉ DECIR:
"Todo el código está en el repositorio con el tag v1.0. Con 'python run.py' o con Docker se levanta el sistema completo, y hay 28 pruebas automatizadas que cubren un caso válido, casos difíciles, entradas inválidas y el flujo completo. Muchas gracias, quedo atento a sus preguntas."
DIAPOSITIVAS DE RESPALDO (ocultas, no se muestran al presentar): 6 = glosario, 7 = preguntas frecuentes. Para ir a una durante la presentación: escribir su número y Enter.
POSIBLES PREGUNTAS (respuestas cortas):
Sobre las decisiones
- ¿Por qué PCA + LDA? ¿Cómo surgió? Primero probé una red siamesa y en validación apenas superaba a la línea base: con 338 perros se sobreajustaba. Busqué un método que aprovechara mejor pocos datos: LDA es el método clásico para reconocer individuos (Fisherfaces, reconocimiento facial). Lo comparé en validación y ganó.
- ¿Por qué PCA antes de LDA? LDA necesita estimar una matriz de 2.048 × 2.048 con solo 2.517 fotos de entrenamiento (5.034 contando la versión volteada de cada una), y eso es inestable. PCA primero reduce a 512 y quita redundancia.
- ¿Por qué ResNet50? Es el extractor estándar más usado: buen equilibrio entre precisión y costo, disponible directamente en Keras y corre en CPU. Con pocos datos conviene reutilizar una red que ya aprendió a ver formas y texturas. No comparé extractores: el objetivo era comparar métodos (línea base, siamesa, LDA) sobre el mismo extractor, para que la diferencia se deba solo al método.
- ¿Probaste otras redes (MobileNet, EfficientNet, ViT)? No: comparé métodos sobre el mismo extractor. Probar otras queda como trabajo futuro; modelos recientes como DINOv2 o CLIP probablemente mejorarían, pero son más pesados.
- ¿Por qué no reentrenaste (fine-tuning) ResNet50? Con 338 perros, reentrenar millones de parámetros se sobreajusta y en CPU tarda mucho. Congelada, sus características se calculan una vez y se entrena en segundos.
- ¿Por qué incluiste la red siamesa? Es el enfoque más usado para verificar si dos fotos son del mismo individuo; sirve para comparar un método clásico contra uno de deep learning.
- ¿Qué se entrenó y qué se reutilizó? Se reutilizó ResNet50 sin cambios; se entrenaron PCA + LDA (modelo final) y la red siamesa (comparación).
Sobre la evaluación
- ¿Cómo evitaste la fuga de datos? Cada perro está en una sola partición; una prueba automática lo verifica. Método y umbral se eligieron con validación; la prueba se usó una sola vez.
- ¿Por qué Top-1 como métrica principal? Porque es lo que ve el usuario: el primer candidato es el que se sugiere.
- ¿Qué es Recall@3? El % de veces que el perro correcto está entre los 3 candidatos mostrados (93 %). La interfaz siempre muestra 3.
- ¿Qué significa la distancia? Qué tan distintas son dos fotos. No es una probabilidad: 0,74 no significa 74 %.
- ¿Qué es el umbral y cómo se calculó? La distancia máxima para aceptar. Se probaron todos los valores en validación y se eligió el que más perros reconoce sin aceptar más de 5 % de perros no registrados.
- ¿Por qué el FAR subió de 5 % a 8,8 %? El umbral se calibró con otros perros (validación); con perros nuevos varía. No se corrigió con la prueba para no hacer trampa.
- ¿Qué es la curva ROC y el AUC? La ROC muestra aciertos frente a falsas alarmas probando todos los umbrales; el AUC es el área bajo la curva (1 = perfecto, 0,5 = azar). PCA + LDA tiene 0,992.
Sobre el sistema
- ¿Funciona con gatos o fotos de cuerpo completo? No: se entrenó con caras de perro recortadas y alineadas. Haría falta un detector de rostros.
- ¿Qué pasa si el perro no está registrado? Si la distancia del más parecido supera el umbral, responde "sin coincidencia" en vez de inventar un dueño.
- ¿Cómo se integraría con Pets Location? Es un microservicio con API REST: el backend solo llama a /api/identify y muestra el resultado en la app.
- ¿Mejora con más datos? Sí: unos 2 puntos de Top-1 cada vez que se duplica la cantidad de perros, cada vez con menos ganancia.
- ¿Qué mejorarías? Más perros, un detector de rostros y probar extractores más modernos.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oculta de respaldo: no aparece al presentar. Si preguntan por un término, ir aquí (en la vista del moderador, escribir el número 6 y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oculta de respaldo con las preguntas más probables. Hay más preguntas y respuestas en las notas de la diapositiva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309360" cy="155448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640080" y="3429000"/>
            <a:ext cx="6309360" cy="914400"/>
          </a:xfrm>
          <a:prstGeom prst="rect">
            <a:avLst/>
          </a:prstGeom>
          <a:noFill/>
          <a:ln/>
        </p:spPr>
        <p:txBody>
          <a:bodyPr wrap="square" rtlCol="0"/>
          <a:lstStyle>
            <a:lvl1pPr algn="l" indent="0" marL="0">
              <a:buNone/>
              <a:defRPr lang="en-US" sz="2000" dirty="0">
                <a:solidFill>
                  <a:srgbClr val="E8963B"/>
                </a:solidFill>
              </a:defRPr>
            </a:lvl1pPr>
          </a:lstStyle>
          <a:p>
            <a:pPr algn="l" indent="0" marL="0">
              <a:buNone/>
            </a:pPr>
            <a:endParaRPr lang="en-US" sz="2000" dirty="0"/>
          </a:p>
        </p:txBody>
      </p:sp>
      <p:sp>
        <p:nvSpPr>
          <p:cNvPr id="4" name="Text 0"/>
          <p:cNvSpPr/>
          <p:nvPr>
            <p:ph idx="102" type="body" hasCustomPrompt="1"/>
          </p:nvPr>
        </p:nvSpPr>
        <p:spPr>
          <a:xfrm>
            <a:off x="640080" y="5074920"/>
            <a:ext cx="6309360" cy="1005840"/>
          </a:xfrm>
          <a:prstGeom prst="rect">
            <a:avLst/>
          </a:prstGeom>
          <a:noFill/>
          <a:ln/>
        </p:spPr>
        <p:txBody>
          <a:bodyPr wrap="square" rtlCol="0"/>
          <a:lstStyle>
            <a:lvl1pPr algn="l" indent="0" marL="0">
              <a:buNone/>
              <a:defRPr lang="en-US" sz="1400" dirty="0">
                <a:solidFill>
                  <a:srgbClr val="EEF4F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rgbClr val="1F4E4A"/>
                </a:solidFill>
              </a:defRPr>
            </a:lvl1pPr>
          </a:lstStyle>
          <a:p>
            <a:pPr indent="0" marL="0">
              <a:buNone/>
            </a:pPr>
            <a:endParaRPr lang="en-US" sz="32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000" dirty="0">
                <a:solidFill>
                  <a:srgbClr val="5F6E6C"/>
                </a:solidFill>
              </a:rPr>
              <a:t>Encontré una mascota · Proyecto final de Machine Learning</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309360" cy="1554480"/>
          </a:xfrm>
          <a:prstGeom prst="rect">
            <a:avLst/>
          </a:prstGeom>
          <a:noFill/>
          <a:ln/>
        </p:spPr>
        <p:txBody>
          <a:bodyPr wrap="square" lIns="0" tIns="0" rIns="0" bIns="0" rtlCol="0" anchor="b"/>
          <a:lstStyle/>
          <a:p>
            <a:pPr algn="l" indent="0" marL="0">
              <a:buNone/>
            </a:pPr>
            <a:r>
              <a:rPr lang="en-US" sz="4400" b="1" dirty="0">
                <a:solidFill>
                  <a:srgbClr val="FFFFFF"/>
                </a:solidFill>
              </a:rPr>
              <a:t>Encontré una mascota</a:t>
            </a:r>
            <a:endParaRPr lang="en-US" sz="4400" dirty="0"/>
          </a:p>
        </p:txBody>
      </p:sp>
      <p:sp>
        <p:nvSpPr>
          <p:cNvPr id="3" name="Text 0"/>
          <p:cNvSpPr/>
          <p:nvPr>
            <p:ph idx="101" type="body" hasCustomPrompt="1"/>
          </p:nvPr>
        </p:nvSpPr>
        <p:spPr>
          <a:xfrm>
            <a:off x="640080" y="3429000"/>
            <a:ext cx="6309360" cy="914400"/>
          </a:xfrm>
          <a:prstGeom prst="rect">
            <a:avLst/>
          </a:prstGeom>
          <a:noFill/>
          <a:ln/>
        </p:spPr>
        <p:txBody>
          <a:bodyPr wrap="square" lIns="0" tIns="0" rIns="0" bIns="0" rtlCol="0" anchor="t"/>
          <a:lstStyle/>
          <a:p>
            <a:pPr algn="l" indent="0" marL="0">
              <a:buNone/>
            </a:pPr>
            <a:r>
              <a:rPr lang="en-US" sz="2000" dirty="0">
                <a:solidFill>
                  <a:srgbClr val="E8963B"/>
                </a:solidFill>
              </a:rPr>
              <a:t>Reidentificación de perros por foto</a:t>
            </a:r>
            <a:endParaRPr lang="en-US" sz="2000" dirty="0"/>
          </a:p>
          <a:p>
            <a:pPr algn="l" indent="0" marL="0">
              <a:buNone/>
            </a:pPr>
            <a:r>
              <a:rPr lang="en-US" sz="2000" dirty="0">
                <a:solidFill>
                  <a:srgbClr val="E8963B"/>
                </a:solidFill>
              </a:rPr>
              <a:t>con ResNet50 y PCA + LDA</a:t>
            </a:r>
            <a:endParaRPr lang="en-US" sz="2000" dirty="0"/>
          </a:p>
        </p:txBody>
      </p:sp>
      <p:sp>
        <p:nvSpPr>
          <p:cNvPr id="4" name="Text 0"/>
          <p:cNvSpPr/>
          <p:nvPr>
            <p:ph idx="102" type="body" hasCustomPrompt="1"/>
          </p:nvPr>
        </p:nvSpPr>
        <p:spPr>
          <a:xfrm>
            <a:off x="640080" y="5074920"/>
            <a:ext cx="6309360" cy="1005840"/>
          </a:xfrm>
          <a:prstGeom prst="rect">
            <a:avLst/>
          </a:prstGeom>
          <a:noFill/>
          <a:ln/>
        </p:spPr>
        <p:txBody>
          <a:bodyPr wrap="square" lIns="0" tIns="0" rIns="0" bIns="0" rtlCol="0" anchor="t"/>
          <a:lstStyle/>
          <a:p>
            <a:pPr algn="l" indent="0" marL="0">
              <a:buNone/>
            </a:pPr>
            <a:r>
              <a:rPr lang="en-US" sz="1400" b="1" dirty="0">
                <a:solidFill>
                  <a:srgbClr val="EEF4F2"/>
                </a:solidFill>
              </a:rPr>
              <a:t>Imer Vladimir Coaguila Patiño</a:t>
            </a:r>
            <a:endParaRPr lang="en-US" sz="1400" dirty="0"/>
          </a:p>
          <a:p>
            <a:pPr algn="l" indent="0" marL="0">
              <a:buNone/>
            </a:pPr>
            <a:r>
              <a:rPr lang="en-US" sz="1400" dirty="0">
                <a:solidFill>
                  <a:srgbClr val="EEF4F2"/>
                </a:solidFill>
              </a:rPr>
              <a:t>Maestría en Ingeniería de Software · Módulo de Machine Learning</a:t>
            </a:r>
            <a:endParaRPr lang="en-US" sz="1400" dirty="0"/>
          </a:p>
          <a:p>
            <a:pPr algn="l" indent="0" marL="0">
              <a:buNone/>
            </a:pPr>
            <a:r>
              <a:rPr lang="en-US" sz="1400" dirty="0">
                <a:solidFill>
                  <a:srgbClr val="EEF4F2"/>
                </a:solidFill>
              </a:rPr>
              <a:t>Microservicio para la plataforma Pets Location</a:t>
            </a:r>
            <a:endParaRPr lang="en-US" sz="1400" dirty="0"/>
          </a:p>
        </p:txBody>
      </p:sp>
      <p:sp>
        <p:nvSpPr>
          <p:cNvPr id="5" name="cover-ring-1"/>
          <p:cNvSpPr/>
          <p:nvPr/>
        </p:nvSpPr>
        <p:spPr>
          <a:xfrm>
            <a:off x="7580376" y="1088136"/>
            <a:ext cx="1984248" cy="1984248"/>
          </a:xfrm>
          <a:prstGeom prst="ellipse">
            <a:avLst/>
          </a:prstGeom>
          <a:solidFill>
            <a:srgbClr val="E8963B"/>
          </a:solidFill>
          <a:ln/>
        </p:spPr>
      </p:sp>
      <p:pic>
        <p:nvPicPr>
          <p:cNvPr id="6" name="cover-dog-1" descr="Foto de perro del dataset DogFaceNet">    </p:cNvPr>
          <p:cNvPicPr>
            <a:picLocks noChangeAspect="1"/>
          </p:cNvPicPr>
          <p:nvPr/>
        </p:nvPicPr>
        <p:blipFill>
          <a:blip r:embed="rId1"/>
          <a:stretch>
            <a:fillRect/>
          </a:stretch>
        </p:blipFill>
        <p:spPr>
          <a:xfrm>
            <a:off x="7635240" y="1143000"/>
            <a:ext cx="1874520" cy="1874520"/>
          </a:xfrm>
          <a:prstGeom prst="ellipse">
            <a:avLst/>
          </a:prstGeom>
        </p:spPr>
      </p:pic>
      <p:sp>
        <p:nvSpPr>
          <p:cNvPr id="7" name="cover-ring-2"/>
          <p:cNvSpPr/>
          <p:nvPr/>
        </p:nvSpPr>
        <p:spPr>
          <a:xfrm>
            <a:off x="9729216" y="1088136"/>
            <a:ext cx="1984248" cy="1984248"/>
          </a:xfrm>
          <a:prstGeom prst="ellipse">
            <a:avLst/>
          </a:prstGeom>
          <a:solidFill>
            <a:srgbClr val="E8963B"/>
          </a:solidFill>
          <a:ln/>
        </p:spPr>
      </p:sp>
      <p:pic>
        <p:nvPicPr>
          <p:cNvPr id="8" name="cover-dog-2" descr="Foto de perro del dataset DogFaceNet">    </p:cNvPr>
          <p:cNvPicPr>
            <a:picLocks noChangeAspect="1"/>
          </p:cNvPicPr>
          <p:nvPr/>
        </p:nvPicPr>
        <p:blipFill>
          <a:blip r:embed="rId2"/>
          <a:stretch>
            <a:fillRect/>
          </a:stretch>
        </p:blipFill>
        <p:spPr>
          <a:xfrm>
            <a:off x="9784080" y="1143000"/>
            <a:ext cx="1874520" cy="1874520"/>
          </a:xfrm>
          <a:prstGeom prst="ellipse">
            <a:avLst/>
          </a:prstGeom>
        </p:spPr>
      </p:pic>
      <p:sp>
        <p:nvSpPr>
          <p:cNvPr id="9" name="cover-ring-3"/>
          <p:cNvSpPr/>
          <p:nvPr/>
        </p:nvSpPr>
        <p:spPr>
          <a:xfrm>
            <a:off x="7580376" y="3236976"/>
            <a:ext cx="1984248" cy="1984248"/>
          </a:xfrm>
          <a:prstGeom prst="ellipse">
            <a:avLst/>
          </a:prstGeom>
          <a:solidFill>
            <a:srgbClr val="E8963B"/>
          </a:solidFill>
          <a:ln/>
        </p:spPr>
      </p:sp>
      <p:pic>
        <p:nvPicPr>
          <p:cNvPr id="10" name="cover-dog-3" descr="Foto de perro del dataset DogFaceNet">    </p:cNvPr>
          <p:cNvPicPr>
            <a:picLocks noChangeAspect="1"/>
          </p:cNvPicPr>
          <p:nvPr/>
        </p:nvPicPr>
        <p:blipFill>
          <a:blip r:embed="rId3"/>
          <a:stretch>
            <a:fillRect/>
          </a:stretch>
        </p:blipFill>
        <p:spPr>
          <a:xfrm>
            <a:off x="7635240" y="3291840"/>
            <a:ext cx="1874520" cy="1874520"/>
          </a:xfrm>
          <a:prstGeom prst="ellipse">
            <a:avLst/>
          </a:prstGeom>
        </p:spPr>
      </p:pic>
      <p:sp>
        <p:nvSpPr>
          <p:cNvPr id="11" name="cover-ring-4"/>
          <p:cNvSpPr/>
          <p:nvPr/>
        </p:nvSpPr>
        <p:spPr>
          <a:xfrm>
            <a:off x="9729216" y="3236976"/>
            <a:ext cx="1984248" cy="1984248"/>
          </a:xfrm>
          <a:prstGeom prst="ellipse">
            <a:avLst/>
          </a:prstGeom>
          <a:solidFill>
            <a:srgbClr val="E8963B"/>
          </a:solidFill>
          <a:ln/>
        </p:spPr>
      </p:sp>
      <p:pic>
        <p:nvPicPr>
          <p:cNvPr id="12" name="cover-dog-4" descr="Foto de perro del dataset DogFaceNet">    </p:cNvPr>
          <p:cNvPicPr>
            <a:picLocks noChangeAspect="1"/>
          </p:cNvPicPr>
          <p:nvPr/>
        </p:nvPicPr>
        <p:blipFill>
          <a:blip r:embed="rId4"/>
          <a:stretch>
            <a:fillRect/>
          </a:stretch>
        </p:blipFill>
        <p:spPr>
          <a:xfrm>
            <a:off x="9784080" y="3291840"/>
            <a:ext cx="1874520" cy="1874520"/>
          </a:xfrm>
          <a:prstGeom prst="ellipse">
            <a:avLst/>
          </a:prstGeom>
        </p:spPr>
      </p:pic>
      <p:sp>
        <p:nvSpPr>
          <p:cNvPr id="13" name="Text 7"/>
          <p:cNvSpPr txBox="1"/>
          <p:nvPr/>
        </p:nvSpPr>
        <p:spPr>
          <a:xfrm>
            <a:off x="7589520" y="5623560"/>
            <a:ext cx="4114800" cy="274320"/>
          </a:xfrm>
          <a:prstGeom prst="rect">
            <a:avLst/>
          </a:prstGeom>
          <a:noFill/>
          <a:ln/>
        </p:spPr>
        <p:txBody>
          <a:bodyPr wrap="square" lIns="0" tIns="0" rIns="0" bIns="0" rtlCol="0" anchor="ctr"/>
          <a:lstStyle/>
          <a:p>
            <a:pPr indent="0" marL="0">
              <a:buNone/>
            </a:pPr>
            <a:r>
              <a:rPr lang="en-US" sz="1000" dirty="0">
                <a:solidFill>
                  <a:srgbClr val="EEF4F2"/>
                </a:solidFill>
              </a:rPr>
              <a:t>Fotos: DogFaceNet (CC BY 4.0)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rgbClr val="1F4E4A"/>
                </a:solidFill>
              </a:rPr>
              <a:t>Se entrena una vez y se usa en cada búsqueda</a:t>
            </a:r>
            <a:endParaRPr lang="en-US" sz="3200" dirty="0"/>
          </a:p>
        </p:txBody>
      </p:sp>
      <p:sp>
        <p:nvSpPr>
          <p:cNvPr id="3" name="lane-train-label"/>
          <p:cNvSpPr txBox="1"/>
          <p:nvPr/>
        </p:nvSpPr>
        <p:spPr>
          <a:xfrm>
            <a:off x="548640" y="1188720"/>
            <a:ext cx="5486400" cy="347472"/>
          </a:xfrm>
          <a:prstGeom prst="rect">
            <a:avLst/>
          </a:prstGeom>
          <a:noFill/>
          <a:ln/>
        </p:spPr>
        <p:txBody>
          <a:bodyPr wrap="square" lIns="0" tIns="0" rIns="0" bIns="0" rtlCol="0" anchor="ctr"/>
          <a:lstStyle/>
          <a:p>
            <a:pPr indent="0" marL="0">
              <a:buNone/>
            </a:pPr>
            <a:r>
              <a:rPr lang="en-US" sz="1500" b="1" dirty="0">
                <a:solidFill>
                  <a:srgbClr val="1F4E4A"/>
                </a:solidFill>
              </a:rPr>
              <a:t>1. Entrenamiento (una sola vez)</a:t>
            </a:r>
            <a:endParaRPr lang="en-US" sz="1500" dirty="0"/>
          </a:p>
        </p:txBody>
      </p:sp>
      <p:sp>
        <p:nvSpPr>
          <p:cNvPr id="4" name="train-1-box"/>
          <p:cNvSpPr/>
          <p:nvPr/>
        </p:nvSpPr>
        <p:spPr>
          <a:xfrm>
            <a:off x="548640" y="1600200"/>
            <a:ext cx="1956816" cy="1280160"/>
          </a:xfrm>
          <a:prstGeom prst="roundRect">
            <a:avLst>
              <a:gd name="adj" fmla="val 7143"/>
            </a:avLst>
          </a:prstGeom>
          <a:solidFill>
            <a:srgbClr val="EEF4F2"/>
          </a:solidFill>
          <a:ln/>
        </p:spPr>
      </p:sp>
      <p:sp>
        <p:nvSpPr>
          <p:cNvPr id="5" name="train-1-text"/>
          <p:cNvSpPr txBox="1"/>
          <p:nvPr/>
        </p:nvSpPr>
        <p:spPr>
          <a:xfrm>
            <a:off x="658368" y="169164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Fotos</a:t>
            </a:r>
            <a:endParaRPr lang="en-US" sz="1500" dirty="0"/>
          </a:p>
          <a:p>
            <a:pPr indent="0" marL="0">
              <a:spcAft>
                <a:spcPts val="300"/>
              </a:spcAft>
              <a:buNone/>
            </a:pPr>
            <a:r>
              <a:rPr lang="en-US" sz="1200" dirty="0">
                <a:solidFill>
                  <a:srgbClr val="1B2A2F"/>
                </a:solidFill>
              </a:rPr>
              <a:t>338 perros, 2.517 fotos de DogFaceNet</a:t>
            </a:r>
            <a:endParaRPr lang="en-US" sz="1500" dirty="0"/>
          </a:p>
        </p:txBody>
      </p:sp>
      <p:sp>
        <p:nvSpPr>
          <p:cNvPr id="6" name="train-arrow-1"/>
          <p:cNvSpPr/>
          <p:nvPr/>
        </p:nvSpPr>
        <p:spPr>
          <a:xfrm>
            <a:off x="2542032" y="2240280"/>
            <a:ext cx="246888" cy="0"/>
          </a:xfrm>
          <a:prstGeom prst="line">
            <a:avLst/>
          </a:prstGeom>
          <a:noFill/>
          <a:ln w="19050">
            <a:solidFill>
              <a:srgbClr val="5F6E6C"/>
            </a:solidFill>
            <a:prstDash val="solid"/>
            <a:tailEnd type="triangle"/>
          </a:ln>
        </p:spPr>
      </p:sp>
      <p:sp>
        <p:nvSpPr>
          <p:cNvPr id="7" name="train-2-box"/>
          <p:cNvSpPr/>
          <p:nvPr/>
        </p:nvSpPr>
        <p:spPr>
          <a:xfrm>
            <a:off x="2825496" y="1600200"/>
            <a:ext cx="1956816" cy="1280160"/>
          </a:xfrm>
          <a:prstGeom prst="roundRect">
            <a:avLst>
              <a:gd name="adj" fmla="val 7143"/>
            </a:avLst>
          </a:prstGeom>
          <a:solidFill>
            <a:srgbClr val="1F4E4A"/>
          </a:solidFill>
          <a:ln/>
        </p:spPr>
      </p:sp>
      <p:sp>
        <p:nvSpPr>
          <p:cNvPr id="8" name="train-2-text"/>
          <p:cNvSpPr txBox="1"/>
          <p:nvPr/>
        </p:nvSpPr>
        <p:spPr>
          <a:xfrm>
            <a:off x="2935224" y="169164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FFFFFF"/>
                </a:solidFill>
              </a:rPr>
              <a:t>ResNet50</a:t>
            </a:r>
            <a:endParaRPr lang="en-US" sz="1500" dirty="0"/>
          </a:p>
          <a:p>
            <a:pPr indent="0" marL="0">
              <a:spcAft>
                <a:spcPts val="300"/>
              </a:spcAft>
              <a:buNone/>
            </a:pPr>
            <a:r>
              <a:rPr lang="en-US" sz="1200" dirty="0">
                <a:solidFill>
                  <a:srgbClr val="EEF4F2"/>
                </a:solidFill>
              </a:rPr>
              <a:t>Ya entrenada con ImageNet: foto → 2.048 números</a:t>
            </a:r>
            <a:endParaRPr lang="en-US" sz="1500" dirty="0"/>
          </a:p>
        </p:txBody>
      </p:sp>
      <p:sp>
        <p:nvSpPr>
          <p:cNvPr id="9" name="train-arrow-2"/>
          <p:cNvSpPr/>
          <p:nvPr/>
        </p:nvSpPr>
        <p:spPr>
          <a:xfrm>
            <a:off x="4818888" y="2240280"/>
            <a:ext cx="246888" cy="0"/>
          </a:xfrm>
          <a:prstGeom prst="line">
            <a:avLst/>
          </a:prstGeom>
          <a:noFill/>
          <a:ln w="19050">
            <a:solidFill>
              <a:srgbClr val="5F6E6C"/>
            </a:solidFill>
            <a:prstDash val="solid"/>
            <a:tailEnd type="triangle"/>
          </a:ln>
        </p:spPr>
      </p:sp>
      <p:sp>
        <p:nvSpPr>
          <p:cNvPr id="10" name="train-3-box"/>
          <p:cNvSpPr/>
          <p:nvPr/>
        </p:nvSpPr>
        <p:spPr>
          <a:xfrm>
            <a:off x="5102352" y="1600200"/>
            <a:ext cx="1956816" cy="1280160"/>
          </a:xfrm>
          <a:prstGeom prst="roundRect">
            <a:avLst>
              <a:gd name="adj" fmla="val 7143"/>
            </a:avLst>
          </a:prstGeom>
          <a:solidFill>
            <a:srgbClr val="FBE7CF"/>
          </a:solidFill>
          <a:ln w="19050">
            <a:solidFill>
              <a:srgbClr val="E8963B"/>
            </a:solidFill>
            <a:prstDash val="solid"/>
          </a:ln>
        </p:spPr>
      </p:sp>
      <p:sp>
        <p:nvSpPr>
          <p:cNvPr id="11" name="train-3-text"/>
          <p:cNvSpPr txBox="1"/>
          <p:nvPr/>
        </p:nvSpPr>
        <p:spPr>
          <a:xfrm>
            <a:off x="5212080" y="169164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PCA</a:t>
            </a:r>
            <a:endParaRPr lang="en-US" sz="1500" dirty="0"/>
          </a:p>
          <a:p>
            <a:pPr indent="0" marL="0">
              <a:spcAft>
                <a:spcPts val="300"/>
              </a:spcAft>
              <a:buNone/>
            </a:pPr>
            <a:r>
              <a:rPr lang="en-US" sz="1200" dirty="0">
                <a:solidFill>
                  <a:srgbClr val="1B2A2F"/>
                </a:solidFill>
              </a:rPr>
              <a:t>Resume 2.048 → 512 números, quitando lo repetido</a:t>
            </a:r>
            <a:endParaRPr lang="en-US" sz="1500" dirty="0"/>
          </a:p>
        </p:txBody>
      </p:sp>
      <p:sp>
        <p:nvSpPr>
          <p:cNvPr id="12" name="train-arrow-3"/>
          <p:cNvSpPr/>
          <p:nvPr/>
        </p:nvSpPr>
        <p:spPr>
          <a:xfrm>
            <a:off x="7095744" y="2240280"/>
            <a:ext cx="246888" cy="0"/>
          </a:xfrm>
          <a:prstGeom prst="line">
            <a:avLst/>
          </a:prstGeom>
          <a:noFill/>
          <a:ln w="19050">
            <a:solidFill>
              <a:srgbClr val="5F6E6C"/>
            </a:solidFill>
            <a:prstDash val="solid"/>
            <a:tailEnd type="triangle"/>
          </a:ln>
        </p:spPr>
      </p:sp>
      <p:sp>
        <p:nvSpPr>
          <p:cNvPr id="13" name="train-4-box"/>
          <p:cNvSpPr/>
          <p:nvPr/>
        </p:nvSpPr>
        <p:spPr>
          <a:xfrm>
            <a:off x="7379208" y="1600200"/>
            <a:ext cx="1956816" cy="1280160"/>
          </a:xfrm>
          <a:prstGeom prst="roundRect">
            <a:avLst>
              <a:gd name="adj" fmla="val 7143"/>
            </a:avLst>
          </a:prstGeom>
          <a:solidFill>
            <a:srgbClr val="FBE7CF"/>
          </a:solidFill>
          <a:ln w="19050">
            <a:solidFill>
              <a:srgbClr val="E8963B"/>
            </a:solidFill>
            <a:prstDash val="solid"/>
          </a:ln>
        </p:spPr>
      </p:sp>
      <p:sp>
        <p:nvSpPr>
          <p:cNvPr id="14" name="train-4-text"/>
          <p:cNvSpPr txBox="1"/>
          <p:nvPr/>
        </p:nvSpPr>
        <p:spPr>
          <a:xfrm>
            <a:off x="7488936" y="169164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LDA</a:t>
            </a:r>
            <a:endParaRPr lang="en-US" sz="1500" dirty="0"/>
          </a:p>
          <a:p>
            <a:pPr indent="0" marL="0">
              <a:spcAft>
                <a:spcPts val="300"/>
              </a:spcAft>
              <a:buNone/>
            </a:pPr>
            <a:r>
              <a:rPr lang="en-US" sz="1200" dirty="0">
                <a:solidFill>
                  <a:srgbClr val="1B2A2F"/>
                </a:solidFill>
              </a:rPr>
              <a:t>Usa las etiquetas: aprende qué distingue a cada perro → 128</a:t>
            </a:r>
            <a:endParaRPr lang="en-US" sz="1500" dirty="0"/>
          </a:p>
        </p:txBody>
      </p:sp>
      <p:sp>
        <p:nvSpPr>
          <p:cNvPr id="15" name="train-arrow-4"/>
          <p:cNvSpPr/>
          <p:nvPr/>
        </p:nvSpPr>
        <p:spPr>
          <a:xfrm>
            <a:off x="9372600" y="2240280"/>
            <a:ext cx="246888" cy="0"/>
          </a:xfrm>
          <a:prstGeom prst="line">
            <a:avLst/>
          </a:prstGeom>
          <a:noFill/>
          <a:ln w="19050">
            <a:solidFill>
              <a:srgbClr val="5F6E6C"/>
            </a:solidFill>
            <a:prstDash val="solid"/>
            <a:tailEnd type="triangle"/>
          </a:ln>
        </p:spPr>
      </p:sp>
      <p:sp>
        <p:nvSpPr>
          <p:cNvPr id="16" name="train-5-box"/>
          <p:cNvSpPr/>
          <p:nvPr/>
        </p:nvSpPr>
        <p:spPr>
          <a:xfrm>
            <a:off x="9656064" y="1600200"/>
            <a:ext cx="1956816" cy="1280160"/>
          </a:xfrm>
          <a:prstGeom prst="roundRect">
            <a:avLst>
              <a:gd name="adj" fmla="val 7143"/>
            </a:avLst>
          </a:prstGeom>
          <a:solidFill>
            <a:srgbClr val="EEF4F2"/>
          </a:solidFill>
          <a:ln/>
        </p:spPr>
      </p:sp>
      <p:sp>
        <p:nvSpPr>
          <p:cNvPr id="17" name="train-5-text"/>
          <p:cNvSpPr txBox="1"/>
          <p:nvPr/>
        </p:nvSpPr>
        <p:spPr>
          <a:xfrm>
            <a:off x="9765792" y="169164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Umbral</a:t>
            </a:r>
            <a:endParaRPr lang="en-US" sz="1500" dirty="0"/>
          </a:p>
          <a:p>
            <a:pPr indent="0" marL="0">
              <a:spcAft>
                <a:spcPts val="300"/>
              </a:spcAft>
              <a:buNone/>
            </a:pPr>
            <a:r>
              <a:rPr lang="en-US" sz="1200" dirty="0">
                <a:solidFill>
                  <a:srgbClr val="1B2A2F"/>
                </a:solidFill>
              </a:rPr>
              <a:t>Calibrado con los 113 perros de validación</a:t>
            </a:r>
            <a:endParaRPr lang="en-US" sz="1500" dirty="0"/>
          </a:p>
        </p:txBody>
      </p:sp>
      <p:sp>
        <p:nvSpPr>
          <p:cNvPr id="18" name="lane-use-label"/>
          <p:cNvSpPr txBox="1"/>
          <p:nvPr/>
        </p:nvSpPr>
        <p:spPr>
          <a:xfrm>
            <a:off x="548640" y="3337560"/>
            <a:ext cx="4389120" cy="347472"/>
          </a:xfrm>
          <a:prstGeom prst="rect">
            <a:avLst/>
          </a:prstGeom>
          <a:noFill/>
          <a:ln/>
        </p:spPr>
        <p:txBody>
          <a:bodyPr wrap="square" lIns="0" tIns="0" rIns="0" bIns="0" rtlCol="0" anchor="ctr"/>
          <a:lstStyle/>
          <a:p>
            <a:pPr indent="0" marL="0">
              <a:buNone/>
            </a:pPr>
            <a:r>
              <a:rPr lang="en-US" sz="1500" b="1" dirty="0">
                <a:solidFill>
                  <a:srgbClr val="1F4E4A"/>
                </a:solidFill>
              </a:rPr>
              <a:t>2. Uso (cada vez que se sube una foto)</a:t>
            </a:r>
            <a:endParaRPr lang="en-US" sz="1500" dirty="0"/>
          </a:p>
        </p:txBody>
      </p:sp>
      <p:sp>
        <p:nvSpPr>
          <p:cNvPr id="19" name="use-1-box"/>
          <p:cNvSpPr/>
          <p:nvPr/>
        </p:nvSpPr>
        <p:spPr>
          <a:xfrm>
            <a:off x="548640" y="3749040"/>
            <a:ext cx="1956816" cy="1280160"/>
          </a:xfrm>
          <a:prstGeom prst="roundRect">
            <a:avLst>
              <a:gd name="adj" fmla="val 7143"/>
            </a:avLst>
          </a:prstGeom>
          <a:solidFill>
            <a:srgbClr val="EEF4F2"/>
          </a:solidFill>
          <a:ln/>
        </p:spPr>
      </p:sp>
      <p:sp>
        <p:nvSpPr>
          <p:cNvPr id="20" name="use-1-text"/>
          <p:cNvSpPr txBox="1"/>
          <p:nvPr/>
        </p:nvSpPr>
        <p:spPr>
          <a:xfrm>
            <a:off x="658368" y="384048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Foto encontrada</a:t>
            </a:r>
            <a:endParaRPr lang="en-US" sz="1500" dirty="0"/>
          </a:p>
          <a:p>
            <a:pPr indent="0" marL="0">
              <a:spcAft>
                <a:spcPts val="300"/>
              </a:spcAft>
              <a:buNone/>
            </a:pPr>
            <a:r>
              <a:rPr lang="en-US" sz="1200" dirty="0">
                <a:solidFill>
                  <a:srgbClr val="1B2A2F"/>
                </a:solidFill>
              </a:rPr>
              <a:t>Cara del perro (PNG o JPEG)</a:t>
            </a:r>
            <a:endParaRPr lang="en-US" sz="1500" dirty="0"/>
          </a:p>
        </p:txBody>
      </p:sp>
      <p:sp>
        <p:nvSpPr>
          <p:cNvPr id="21" name="use-2-box"/>
          <p:cNvSpPr/>
          <p:nvPr/>
        </p:nvSpPr>
        <p:spPr>
          <a:xfrm>
            <a:off x="2825496" y="3749040"/>
            <a:ext cx="1956816" cy="1280160"/>
          </a:xfrm>
          <a:prstGeom prst="roundRect">
            <a:avLst>
              <a:gd name="adj" fmla="val 7143"/>
            </a:avLst>
          </a:prstGeom>
          <a:solidFill>
            <a:srgbClr val="1F4E4A"/>
          </a:solidFill>
          <a:ln/>
        </p:spPr>
      </p:sp>
      <p:sp>
        <p:nvSpPr>
          <p:cNvPr id="22" name="use-2-text"/>
          <p:cNvSpPr txBox="1"/>
          <p:nvPr/>
        </p:nvSpPr>
        <p:spPr>
          <a:xfrm>
            <a:off x="2935224" y="384048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FFFFFF"/>
                </a:solidFill>
              </a:rPr>
              <a:t>ResNet50</a:t>
            </a:r>
            <a:endParaRPr lang="en-US" sz="1500" dirty="0"/>
          </a:p>
          <a:p>
            <a:pPr indent="0" marL="0">
              <a:spcAft>
                <a:spcPts val="300"/>
              </a:spcAft>
              <a:buNone/>
            </a:pPr>
            <a:r>
              <a:rPr lang="en-US" sz="1200" dirty="0">
                <a:solidFill>
                  <a:srgbClr val="EEF4F2"/>
                </a:solidFill>
              </a:rPr>
              <a:t>La misma red: 2.048 números</a:t>
            </a:r>
            <a:endParaRPr lang="en-US" sz="1500" dirty="0"/>
          </a:p>
        </p:txBody>
      </p:sp>
      <p:sp>
        <p:nvSpPr>
          <p:cNvPr id="23" name="use-3-box"/>
          <p:cNvSpPr/>
          <p:nvPr/>
        </p:nvSpPr>
        <p:spPr>
          <a:xfrm>
            <a:off x="5102352" y="3749040"/>
            <a:ext cx="4233672" cy="1280160"/>
          </a:xfrm>
          <a:prstGeom prst="roundRect">
            <a:avLst>
              <a:gd name="adj" fmla="val 7143"/>
            </a:avLst>
          </a:prstGeom>
          <a:solidFill>
            <a:srgbClr val="FBE7CF"/>
          </a:solidFill>
          <a:ln w="19050">
            <a:solidFill>
              <a:srgbClr val="E8963B"/>
            </a:solidFill>
            <a:prstDash val="solid"/>
          </a:ln>
        </p:spPr>
      </p:sp>
      <p:sp>
        <p:nvSpPr>
          <p:cNvPr id="24" name="use-3-text"/>
          <p:cNvSpPr txBox="1"/>
          <p:nvPr/>
        </p:nvSpPr>
        <p:spPr>
          <a:xfrm>
            <a:off x="5212080" y="3840480"/>
            <a:ext cx="4014216"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PCA + LDA aprendidos</a:t>
            </a:r>
            <a:endParaRPr lang="en-US" sz="1500" dirty="0"/>
          </a:p>
          <a:p>
            <a:pPr indent="0" marL="0">
              <a:spcAft>
                <a:spcPts val="300"/>
              </a:spcAft>
              <a:buNone/>
            </a:pPr>
            <a:r>
              <a:rPr lang="en-US" sz="1200" dirty="0">
                <a:solidFill>
                  <a:srgbClr val="1B2A2F"/>
                </a:solidFill>
              </a:rPr>
              <a:t>Aplica lo aprendido en el entrenamiento → 128 números</a:t>
            </a:r>
            <a:endParaRPr lang="en-US" sz="1500" dirty="0"/>
          </a:p>
        </p:txBody>
      </p:sp>
      <p:sp>
        <p:nvSpPr>
          <p:cNvPr id="25" name="use-4-box"/>
          <p:cNvSpPr/>
          <p:nvPr/>
        </p:nvSpPr>
        <p:spPr>
          <a:xfrm>
            <a:off x="9656064" y="3749040"/>
            <a:ext cx="1956816" cy="1280160"/>
          </a:xfrm>
          <a:prstGeom prst="roundRect">
            <a:avLst>
              <a:gd name="adj" fmla="val 7143"/>
            </a:avLst>
          </a:prstGeom>
          <a:solidFill>
            <a:srgbClr val="EEF4F2"/>
          </a:solidFill>
          <a:ln/>
        </p:spPr>
      </p:sp>
      <p:sp>
        <p:nvSpPr>
          <p:cNvPr id="26" name="use-4-text"/>
          <p:cNvSpPr txBox="1"/>
          <p:nvPr/>
        </p:nvSpPr>
        <p:spPr>
          <a:xfrm>
            <a:off x="9765792" y="384048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1F4E4A"/>
                </a:solidFill>
              </a:rPr>
              <a:t>Búsqueda y decisión</a:t>
            </a:r>
            <a:endParaRPr lang="en-US" sz="1500" dirty="0"/>
          </a:p>
          <a:p>
            <a:pPr indent="0" marL="0">
              <a:spcAft>
                <a:spcPts val="300"/>
              </a:spcAft>
              <a:buNone/>
            </a:pPr>
            <a:r>
              <a:rPr lang="en-US" sz="1200" dirty="0">
                <a:solidFill>
                  <a:srgbClr val="1B2A2F"/>
                </a:solidFill>
              </a:rPr>
              <a:t>Compara con 85 perros → top-3. Si distancia ≤ umbral: dueño y collar</a:t>
            </a:r>
            <a:endParaRPr lang="en-US" sz="1500" dirty="0"/>
          </a:p>
        </p:txBody>
      </p:sp>
      <p:sp>
        <p:nvSpPr>
          <p:cNvPr id="27" name="use-arrow-1"/>
          <p:cNvSpPr/>
          <p:nvPr/>
        </p:nvSpPr>
        <p:spPr>
          <a:xfrm>
            <a:off x="2542032" y="4389120"/>
            <a:ext cx="246888" cy="0"/>
          </a:xfrm>
          <a:prstGeom prst="line">
            <a:avLst/>
          </a:prstGeom>
          <a:noFill/>
          <a:ln w="19050">
            <a:solidFill>
              <a:srgbClr val="5F6E6C"/>
            </a:solidFill>
            <a:prstDash val="solid"/>
            <a:tailEnd type="triangle"/>
          </a:ln>
        </p:spPr>
      </p:sp>
      <p:sp>
        <p:nvSpPr>
          <p:cNvPr id="28" name="use-arrow-2"/>
          <p:cNvSpPr/>
          <p:nvPr/>
        </p:nvSpPr>
        <p:spPr>
          <a:xfrm>
            <a:off x="4818888" y="4389120"/>
            <a:ext cx="246888" cy="0"/>
          </a:xfrm>
          <a:prstGeom prst="line">
            <a:avLst/>
          </a:prstGeom>
          <a:noFill/>
          <a:ln w="19050">
            <a:solidFill>
              <a:srgbClr val="5F6E6C"/>
            </a:solidFill>
            <a:prstDash val="solid"/>
            <a:tailEnd type="triangle"/>
          </a:ln>
        </p:spPr>
      </p:sp>
      <p:sp>
        <p:nvSpPr>
          <p:cNvPr id="29" name="use-arrow-3"/>
          <p:cNvSpPr/>
          <p:nvPr/>
        </p:nvSpPr>
        <p:spPr>
          <a:xfrm>
            <a:off x="9372600" y="4389120"/>
            <a:ext cx="246888" cy="0"/>
          </a:xfrm>
          <a:prstGeom prst="line">
            <a:avLst/>
          </a:prstGeom>
          <a:noFill/>
          <a:ln w="19050">
            <a:solidFill>
              <a:srgbClr val="5F6E6C"/>
            </a:solidFill>
            <a:prstDash val="solid"/>
            <a:tailEnd type="triangle"/>
          </a:ln>
        </p:spPr>
      </p:sp>
      <p:sp>
        <p:nvSpPr>
          <p:cNvPr id="30" name="learned-arrow-2"/>
          <p:cNvSpPr/>
          <p:nvPr/>
        </p:nvSpPr>
        <p:spPr>
          <a:xfrm>
            <a:off x="6080760" y="2926080"/>
            <a:ext cx="0" cy="777240"/>
          </a:xfrm>
          <a:prstGeom prst="line">
            <a:avLst/>
          </a:prstGeom>
          <a:noFill/>
          <a:ln w="19050">
            <a:solidFill>
              <a:srgbClr val="E8963B"/>
            </a:solidFill>
            <a:prstDash val="dash"/>
            <a:tailEnd type="triangle"/>
          </a:ln>
        </p:spPr>
      </p:sp>
      <p:sp>
        <p:nvSpPr>
          <p:cNvPr id="31" name="learned-arrow-3"/>
          <p:cNvSpPr/>
          <p:nvPr/>
        </p:nvSpPr>
        <p:spPr>
          <a:xfrm>
            <a:off x="8357616" y="2926080"/>
            <a:ext cx="0" cy="777240"/>
          </a:xfrm>
          <a:prstGeom prst="line">
            <a:avLst/>
          </a:prstGeom>
          <a:noFill/>
          <a:ln w="19050">
            <a:solidFill>
              <a:srgbClr val="E8963B"/>
            </a:solidFill>
            <a:prstDash val="dash"/>
            <a:tailEnd type="triangle"/>
          </a:ln>
        </p:spPr>
      </p:sp>
      <p:sp>
        <p:nvSpPr>
          <p:cNvPr id="32" name="learned-arrow-4"/>
          <p:cNvSpPr/>
          <p:nvPr/>
        </p:nvSpPr>
        <p:spPr>
          <a:xfrm>
            <a:off x="10634472" y="2926080"/>
            <a:ext cx="0" cy="777240"/>
          </a:xfrm>
          <a:prstGeom prst="line">
            <a:avLst/>
          </a:prstGeom>
          <a:noFill/>
          <a:ln w="19050">
            <a:solidFill>
              <a:srgbClr val="E8963B"/>
            </a:solidFill>
            <a:prstDash val="dash"/>
            <a:tailEnd type="triangle"/>
          </a:ln>
        </p:spPr>
      </p:sp>
      <p:sp>
        <p:nvSpPr>
          <p:cNvPr id="33" name="learned-label"/>
          <p:cNvSpPr txBox="1"/>
          <p:nvPr/>
        </p:nvSpPr>
        <p:spPr>
          <a:xfrm>
            <a:off x="6217920" y="3108960"/>
            <a:ext cx="2103120" cy="274320"/>
          </a:xfrm>
          <a:prstGeom prst="rect">
            <a:avLst/>
          </a:prstGeom>
          <a:noFill/>
          <a:ln/>
        </p:spPr>
        <p:txBody>
          <a:bodyPr wrap="square" lIns="0" tIns="0" rIns="0" bIns="0" rtlCol="0" anchor="ctr"/>
          <a:lstStyle/>
          <a:p>
            <a:pPr indent="0" marL="0">
              <a:buNone/>
            </a:pPr>
            <a:r>
              <a:rPr lang="en-US" sz="1100" i="1" dirty="0">
                <a:solidFill>
                  <a:srgbClr val="5F6E6C"/>
                </a:solidFill>
              </a:rPr>
              <a:t>se aplica lo aprendido</a:t>
            </a:r>
            <a:endParaRPr lang="en-US" sz="1100" dirty="0"/>
          </a:p>
        </p:txBody>
      </p:sp>
      <p:sp>
        <p:nvSpPr>
          <p:cNvPr id="34" name="legend-trained"/>
          <p:cNvSpPr/>
          <p:nvPr/>
        </p:nvSpPr>
        <p:spPr>
          <a:xfrm>
            <a:off x="548640" y="5330952"/>
            <a:ext cx="274320" cy="201168"/>
          </a:xfrm>
          <a:prstGeom prst="roundRect">
            <a:avLst>
              <a:gd name="adj" fmla="val 18182"/>
            </a:avLst>
          </a:prstGeom>
          <a:solidFill>
            <a:srgbClr val="FBE7CF"/>
          </a:solidFill>
          <a:ln w="19050">
            <a:solidFill>
              <a:srgbClr val="E8963B"/>
            </a:solidFill>
            <a:prstDash val="solid"/>
          </a:ln>
        </p:spPr>
      </p:sp>
      <p:sp>
        <p:nvSpPr>
          <p:cNvPr id="35" name="legend-trained-text"/>
          <p:cNvSpPr txBox="1"/>
          <p:nvPr/>
        </p:nvSpPr>
        <p:spPr>
          <a:xfrm>
            <a:off x="914400" y="5285232"/>
            <a:ext cx="2377440" cy="292608"/>
          </a:xfrm>
          <a:prstGeom prst="rect">
            <a:avLst/>
          </a:prstGeom>
          <a:noFill/>
          <a:ln/>
        </p:spPr>
        <p:txBody>
          <a:bodyPr wrap="square" lIns="0" tIns="0" rIns="0" bIns="0" rtlCol="0" anchor="ctr"/>
          <a:lstStyle/>
          <a:p>
            <a:pPr indent="0" marL="0">
              <a:buNone/>
            </a:pPr>
            <a:r>
              <a:rPr lang="en-US" sz="1200" dirty="0">
                <a:solidFill>
                  <a:srgbClr val="1B2A2F"/>
                </a:solidFill>
              </a:rPr>
              <a:t>Se entrena (PCA + LDA)</a:t>
            </a:r>
            <a:endParaRPr lang="en-US" sz="1200" dirty="0"/>
          </a:p>
        </p:txBody>
      </p:sp>
      <p:sp>
        <p:nvSpPr>
          <p:cNvPr id="36" name="legend-reused"/>
          <p:cNvSpPr/>
          <p:nvPr/>
        </p:nvSpPr>
        <p:spPr>
          <a:xfrm>
            <a:off x="3383280" y="5330952"/>
            <a:ext cx="274320" cy="201168"/>
          </a:xfrm>
          <a:prstGeom prst="roundRect">
            <a:avLst>
              <a:gd name="adj" fmla="val 18182"/>
            </a:avLst>
          </a:prstGeom>
          <a:solidFill>
            <a:srgbClr val="1F4E4A"/>
          </a:solidFill>
          <a:ln/>
        </p:spPr>
      </p:sp>
      <p:sp>
        <p:nvSpPr>
          <p:cNvPr id="37" name="legend-reused-text"/>
          <p:cNvSpPr txBox="1"/>
          <p:nvPr/>
        </p:nvSpPr>
        <p:spPr>
          <a:xfrm>
            <a:off x="3749040" y="5285232"/>
            <a:ext cx="3291840" cy="292608"/>
          </a:xfrm>
          <a:prstGeom prst="rect">
            <a:avLst/>
          </a:prstGeom>
          <a:noFill/>
          <a:ln/>
        </p:spPr>
        <p:txBody>
          <a:bodyPr wrap="square" lIns="0" tIns="0" rIns="0" bIns="0" rtlCol="0" anchor="ctr"/>
          <a:lstStyle/>
          <a:p>
            <a:pPr indent="0" marL="0">
              <a:buNone/>
            </a:pPr>
            <a:r>
              <a:rPr lang="en-US" sz="1200" dirty="0">
                <a:solidFill>
                  <a:srgbClr val="1B2A2F"/>
                </a:solidFill>
              </a:rPr>
              <a:t>Se reutiliza sin entrenar (ResNet50)</a:t>
            </a:r>
            <a:endParaRPr lang="en-US" sz="1200" dirty="0"/>
          </a:p>
        </p:txBody>
      </p:sp>
      <p:sp>
        <p:nvSpPr>
          <p:cNvPr id="38" name="definitions"/>
          <p:cNvSpPr txBox="1"/>
          <p:nvPr/>
        </p:nvSpPr>
        <p:spPr>
          <a:xfrm>
            <a:off x="548640" y="5715000"/>
            <a:ext cx="11064240" cy="411480"/>
          </a:xfrm>
          <a:prstGeom prst="rect">
            <a:avLst/>
          </a:prstGeom>
          <a:noFill/>
          <a:ln/>
        </p:spPr>
        <p:txBody>
          <a:bodyPr wrap="square" lIns="0" tIns="0" rIns="0" bIns="0" rtlCol="0" anchor="ctr"/>
          <a:lstStyle/>
          <a:p>
            <a:pPr indent="0" marL="0">
              <a:buNone/>
            </a:pPr>
            <a:r>
              <a:rPr lang="en-US" sz="1200" b="1" dirty="0">
                <a:solidFill>
                  <a:srgbClr val="1F4E4A"/>
                </a:solidFill>
              </a:rPr>
              <a:t>Distancia: </a:t>
            </a:r>
            <a:pPr indent="0" marL="0">
              <a:buNone/>
            </a:pPr>
            <a:r>
              <a:rPr lang="en-US" sz="1200" dirty="0">
                <a:solidFill>
                  <a:srgbClr val="5F6E6C"/>
                </a:solidFill>
              </a:rPr>
              <a:t>qué tan distintas son dos fotos (menor = más parecidas; no es un porcentaje).   </a:t>
            </a:r>
            <a:pPr indent="0" marL="0">
              <a:buNone/>
            </a:pPr>
            <a:r>
              <a:rPr lang="en-US" sz="1200" b="1" dirty="0">
                <a:solidFill>
                  <a:srgbClr val="1F4E4A"/>
                </a:solidFill>
              </a:rPr>
              <a:t>Umbral: </a:t>
            </a:r>
            <a:pPr indent="0" marL="0">
              <a:buNone/>
            </a:pPr>
            <a:r>
              <a:rPr lang="en-US" sz="1200" dirty="0">
                <a:solidFill>
                  <a:srgbClr val="5F6E6C"/>
                </a:solidFill>
              </a:rPr>
              <a:t>distancia máxima para aceptar una coincidencia.</a:t>
            </a:r>
            <a:endParaRPr lang="en-US" sz="12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rgbClr val="1F4E4A"/>
                </a:solidFill>
              </a:rPr>
              <a:t>PCA + LDA supera a la línea base en 10 puntos de Top-1</a:t>
            </a:r>
            <a:endParaRPr lang="en-US" sz="3200" dirty="0"/>
          </a:p>
        </p:txBody>
      </p:sp>
      <p:graphicFrame>
        <p:nvGraphicFramePr>
          <p:cNvPr id="3" name="top1-chart"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tat-card-1"/>
          <p:cNvSpPr/>
          <p:nvPr/>
        </p:nvSpPr>
        <p:spPr>
          <a:xfrm>
            <a:off x="7863840" y="1325880"/>
            <a:ext cx="3749040" cy="1600200"/>
          </a:xfrm>
          <a:prstGeom prst="roundRect">
            <a:avLst>
              <a:gd name="adj" fmla="val 6857"/>
            </a:avLst>
          </a:prstGeom>
          <a:solidFill>
            <a:srgbClr val="EEF4F2"/>
          </a:solidFill>
          <a:ln/>
        </p:spPr>
      </p:sp>
      <p:sp>
        <p:nvSpPr>
          <p:cNvPr id="5" name="stat-number-1"/>
          <p:cNvSpPr txBox="1"/>
          <p:nvPr/>
        </p:nvSpPr>
        <p:spPr>
          <a:xfrm>
            <a:off x="8092440" y="1435608"/>
            <a:ext cx="3291840" cy="777240"/>
          </a:xfrm>
          <a:prstGeom prst="rect">
            <a:avLst/>
          </a:prstGeom>
          <a:noFill/>
          <a:ln/>
        </p:spPr>
        <p:txBody>
          <a:bodyPr wrap="square" lIns="0" tIns="0" rIns="0" bIns="0" rtlCol="0" anchor="ctr"/>
          <a:lstStyle/>
          <a:p>
            <a:pPr indent="0" marL="0">
              <a:buNone/>
            </a:pPr>
            <a:r>
              <a:rPr lang="en-US" sz="4400" b="1" dirty="0">
                <a:solidFill>
                  <a:srgbClr val="E8963B"/>
                </a:solidFill>
                <a:latin typeface="Cambria" pitchFamily="34" charset="0"/>
                <a:ea typeface="Cambria" pitchFamily="34" charset="-122"/>
                <a:cs typeface="Cambria" pitchFamily="34" charset="-120"/>
              </a:rPr>
              <a:t>+10 pts</a:t>
            </a:r>
            <a:endParaRPr lang="en-US" sz="4400" dirty="0"/>
          </a:p>
        </p:txBody>
      </p:sp>
      <p:sp>
        <p:nvSpPr>
          <p:cNvPr id="6" name="stat-label-1"/>
          <p:cNvSpPr txBox="1"/>
          <p:nvPr/>
        </p:nvSpPr>
        <p:spPr>
          <a:xfrm>
            <a:off x="8092440" y="2194560"/>
            <a:ext cx="3291840" cy="640080"/>
          </a:xfrm>
          <a:prstGeom prst="rect">
            <a:avLst/>
          </a:prstGeom>
          <a:noFill/>
          <a:ln/>
        </p:spPr>
        <p:txBody>
          <a:bodyPr wrap="square" lIns="0" tIns="0" rIns="0" bIns="0" rtlCol="0" anchor="t"/>
          <a:lstStyle/>
          <a:p>
            <a:pPr indent="0" marL="0">
              <a:buNone/>
            </a:pPr>
            <a:r>
              <a:rPr lang="en-US" sz="1400" dirty="0">
                <a:solidFill>
                  <a:srgbClr val="1B2A2F"/>
                </a:solidFill>
              </a:rPr>
              <a:t>más aciertos en primer lugar (Top-1) que la línea base sin entrenar</a:t>
            </a:r>
            <a:endParaRPr lang="en-US" sz="1400" dirty="0"/>
          </a:p>
        </p:txBody>
      </p:sp>
      <p:sp>
        <p:nvSpPr>
          <p:cNvPr id="7" name="stat-card-2"/>
          <p:cNvSpPr/>
          <p:nvPr/>
        </p:nvSpPr>
        <p:spPr>
          <a:xfrm>
            <a:off x="7863840" y="3108960"/>
            <a:ext cx="3749040" cy="1600200"/>
          </a:xfrm>
          <a:prstGeom prst="roundRect">
            <a:avLst>
              <a:gd name="adj" fmla="val 6857"/>
            </a:avLst>
          </a:prstGeom>
          <a:solidFill>
            <a:srgbClr val="EEF4F2"/>
          </a:solidFill>
          <a:ln/>
        </p:spPr>
      </p:sp>
      <p:sp>
        <p:nvSpPr>
          <p:cNvPr id="8" name="stat-number-2"/>
          <p:cNvSpPr txBox="1"/>
          <p:nvPr/>
        </p:nvSpPr>
        <p:spPr>
          <a:xfrm>
            <a:off x="8092440" y="3218688"/>
            <a:ext cx="3291840" cy="777240"/>
          </a:xfrm>
          <a:prstGeom prst="rect">
            <a:avLst/>
          </a:prstGeom>
          <a:noFill/>
          <a:ln/>
        </p:spPr>
        <p:txBody>
          <a:bodyPr wrap="square" lIns="0" tIns="0" rIns="0" bIns="0" rtlCol="0" anchor="ctr"/>
          <a:lstStyle/>
          <a:p>
            <a:pPr indent="0" marL="0">
              <a:buNone/>
            </a:pPr>
            <a:r>
              <a:rPr lang="en-US" sz="4400" b="1" dirty="0">
                <a:solidFill>
                  <a:srgbClr val="1F4E4A"/>
                </a:solidFill>
                <a:latin typeface="Cambria" pitchFamily="34" charset="0"/>
                <a:ea typeface="Cambria" pitchFamily="34" charset="-122"/>
                <a:cs typeface="Cambria" pitchFamily="34" charset="-120"/>
              </a:rPr>
              <a:t>93 %</a:t>
            </a:r>
            <a:endParaRPr lang="en-US" sz="4400" dirty="0"/>
          </a:p>
        </p:txBody>
      </p:sp>
      <p:sp>
        <p:nvSpPr>
          <p:cNvPr id="9" name="stat-label-2"/>
          <p:cNvSpPr txBox="1"/>
          <p:nvPr/>
        </p:nvSpPr>
        <p:spPr>
          <a:xfrm>
            <a:off x="8092440" y="3977640"/>
            <a:ext cx="3291840" cy="640080"/>
          </a:xfrm>
          <a:prstGeom prst="rect">
            <a:avLst/>
          </a:prstGeom>
          <a:noFill/>
          <a:ln/>
        </p:spPr>
        <p:txBody>
          <a:bodyPr wrap="square" lIns="0" tIns="0" rIns="0" bIns="0" rtlCol="0" anchor="t"/>
          <a:lstStyle/>
          <a:p>
            <a:pPr indent="0" marL="0">
              <a:buNone/>
            </a:pPr>
            <a:r>
              <a:rPr lang="en-US" sz="1400" dirty="0">
                <a:solidFill>
                  <a:srgbClr val="1B2A2F"/>
                </a:solidFill>
              </a:rPr>
              <a:t>Recall@3: el perro correcto está entre los 3 candidatos que se muestran</a:t>
            </a:r>
            <a:endParaRPr lang="en-US" sz="1400" dirty="0"/>
          </a:p>
        </p:txBody>
      </p:sp>
      <p:sp>
        <p:nvSpPr>
          <p:cNvPr id="10" name="results-caption"/>
          <p:cNvSpPr txBox="1"/>
          <p:nvPr/>
        </p:nvSpPr>
        <p:spPr>
          <a:xfrm>
            <a:off x="7863840" y="4937760"/>
            <a:ext cx="3749040" cy="1234440"/>
          </a:xfrm>
          <a:prstGeom prst="rect">
            <a:avLst/>
          </a:prstGeom>
          <a:noFill/>
          <a:ln/>
        </p:spPr>
        <p:txBody>
          <a:bodyPr wrap="square" lIns="0" tIns="0" rIns="0" bIns="0" rtlCol="0" anchor="t"/>
          <a:lstStyle/>
          <a:p>
            <a:pPr indent="0" marL="0">
              <a:buNone/>
            </a:pPr>
            <a:r>
              <a:rPr lang="en-US" sz="1300" b="1" dirty="0">
                <a:solidFill>
                  <a:srgbClr val="1F4E4A"/>
                </a:solidFill>
              </a:rPr>
              <a:t>Datos: </a:t>
            </a:r>
            <a:pPr indent="0" marL="0">
              <a:buNone/>
            </a:pPr>
            <a:r>
              <a:rPr lang="en-US" sz="1300" dirty="0">
                <a:solidFill>
                  <a:srgbClr val="5F6E6C"/>
                </a:solidFill>
              </a:rPr>
              <a:t>DogFaceNet, 4.168 fotos reales de 564 perros, separados por perro: 338 entrenamiento, 113 validación y 113 prueba (nunca vistos, 674 consultas). Método y umbral elegidos solo con validación.</a:t>
            </a:r>
            <a:endParaRPr lang="en-US" sz="13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rgbClr val="1F4E4A"/>
                </a:solidFill>
              </a:rPr>
              <a:t>Conclusiones y limitaciones</a:t>
            </a:r>
            <a:endParaRPr lang="en-US" sz="3200" dirty="0"/>
          </a:p>
        </p:txBody>
      </p:sp>
      <p:sp>
        <p:nvSpPr>
          <p:cNvPr id="3" name="panel-1"/>
          <p:cNvSpPr/>
          <p:nvPr/>
        </p:nvSpPr>
        <p:spPr>
          <a:xfrm>
            <a:off x="548640" y="1325880"/>
            <a:ext cx="5440680" cy="4800600"/>
          </a:xfrm>
          <a:prstGeom prst="roundRect">
            <a:avLst>
              <a:gd name="adj" fmla="val 2286"/>
            </a:avLst>
          </a:prstGeom>
          <a:solidFill>
            <a:srgbClr val="EEF4F2"/>
          </a:solidFill>
          <a:ln/>
        </p:spPr>
      </p:sp>
      <p:sp>
        <p:nvSpPr>
          <p:cNvPr id="4" name="panel-head-1"/>
          <p:cNvSpPr txBox="1"/>
          <p:nvPr/>
        </p:nvSpPr>
        <p:spPr>
          <a:xfrm>
            <a:off x="822960" y="1554480"/>
            <a:ext cx="4892040" cy="457200"/>
          </a:xfrm>
          <a:prstGeom prst="rect">
            <a:avLst/>
          </a:prstGeom>
          <a:noFill/>
          <a:ln/>
        </p:spPr>
        <p:txBody>
          <a:bodyPr wrap="square" lIns="0" tIns="0" rIns="0" bIns="0" rtlCol="0" anchor="ctr"/>
          <a:lstStyle/>
          <a:p>
            <a:pPr indent="0" marL="0">
              <a:buNone/>
            </a:pPr>
            <a:r>
              <a:rPr lang="en-US" sz="2200" b="1" dirty="0">
                <a:solidFill>
                  <a:srgbClr val="1F4E4A"/>
                </a:solidFill>
                <a:latin typeface="Cambria" pitchFamily="34" charset="0"/>
                <a:ea typeface="Cambria" pitchFamily="34" charset="-122"/>
                <a:cs typeface="Cambria" pitchFamily="34" charset="-120"/>
              </a:rPr>
              <a:t>Conclusiones</a:t>
            </a:r>
            <a:endParaRPr lang="en-US" sz="2200" dirty="0"/>
          </a:p>
        </p:txBody>
      </p:sp>
      <p:sp>
        <p:nvSpPr>
          <p:cNvPr id="5" name="panel-1-mark-1"/>
          <p:cNvSpPr/>
          <p:nvPr/>
        </p:nvSpPr>
        <p:spPr>
          <a:xfrm>
            <a:off x="822960" y="2286000"/>
            <a:ext cx="457200" cy="457200"/>
          </a:xfrm>
          <a:prstGeom prst="ellipse">
            <a:avLst/>
          </a:prstGeom>
          <a:solidFill>
            <a:srgbClr val="1F4E4A"/>
          </a:solidFill>
          <a:ln/>
        </p:spPr>
      </p:sp>
      <p:sp>
        <p:nvSpPr>
          <p:cNvPr id="6" name="panel-1-mark-text-1"/>
          <p:cNvSpPr txBox="1"/>
          <p:nvPr/>
        </p:nvSpPr>
        <p:spPr>
          <a:xfrm>
            <a:off x="82296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7" name="panel-1-item-1"/>
          <p:cNvSpPr txBox="1"/>
          <p:nvPr/>
        </p:nvSpPr>
        <p:spPr>
          <a:xfrm>
            <a:off x="1417320" y="2240280"/>
            <a:ext cx="4297680" cy="731520"/>
          </a:xfrm>
          <a:prstGeom prst="rect">
            <a:avLst/>
          </a:prstGeom>
          <a:noFill/>
          <a:ln/>
        </p:spPr>
        <p:txBody>
          <a:bodyPr wrap="square" lIns="0" tIns="0" rIns="0" bIns="0" rtlCol="0" anchor="ctr"/>
          <a:lstStyle/>
          <a:p>
            <a:pPr indent="0" marL="0">
              <a:buNone/>
            </a:pPr>
            <a:r>
              <a:rPr lang="en-US" sz="1500" dirty="0">
                <a:solidFill>
                  <a:srgbClr val="1B2A2F"/>
                </a:solidFill>
              </a:rPr>
              <a:t>Un método clásico (LDA) supera a la línea base en 10 puntos de Top-1</a:t>
            </a:r>
            <a:endParaRPr lang="en-US" sz="1500" dirty="0"/>
          </a:p>
        </p:txBody>
      </p:sp>
      <p:sp>
        <p:nvSpPr>
          <p:cNvPr id="8" name="panel-1-mark-2"/>
          <p:cNvSpPr/>
          <p:nvPr/>
        </p:nvSpPr>
        <p:spPr>
          <a:xfrm>
            <a:off x="822960" y="3154680"/>
            <a:ext cx="457200" cy="457200"/>
          </a:xfrm>
          <a:prstGeom prst="ellipse">
            <a:avLst/>
          </a:prstGeom>
          <a:solidFill>
            <a:srgbClr val="1F4E4A"/>
          </a:solidFill>
          <a:ln/>
        </p:spPr>
      </p:sp>
      <p:sp>
        <p:nvSpPr>
          <p:cNvPr id="9" name="panel-1-mark-text-2"/>
          <p:cNvSpPr txBox="1"/>
          <p:nvPr/>
        </p:nvSpPr>
        <p:spPr>
          <a:xfrm>
            <a:off x="82296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0" name="panel-1-item-2"/>
          <p:cNvSpPr txBox="1"/>
          <p:nvPr/>
        </p:nvSpPr>
        <p:spPr>
          <a:xfrm>
            <a:off x="1417320" y="3108960"/>
            <a:ext cx="4297680" cy="731520"/>
          </a:xfrm>
          <a:prstGeom prst="rect">
            <a:avLst/>
          </a:prstGeom>
          <a:noFill/>
          <a:ln/>
        </p:spPr>
        <p:txBody>
          <a:bodyPr wrap="square" lIns="0" tIns="0" rIns="0" bIns="0" rtlCol="0" anchor="ctr"/>
          <a:lstStyle/>
          <a:p>
            <a:pPr indent="0" marL="0">
              <a:buNone/>
            </a:pPr>
            <a:r>
              <a:rPr lang="en-US" sz="1500" dirty="0">
                <a:solidFill>
                  <a:srgbClr val="1B2A2F"/>
                </a:solidFill>
              </a:rPr>
              <a:t>Con 338 perros, LDA rinde más que la cabeza siamesa entrenada por gradiente</a:t>
            </a:r>
            <a:endParaRPr lang="en-US" sz="1500" dirty="0"/>
          </a:p>
        </p:txBody>
      </p:sp>
      <p:sp>
        <p:nvSpPr>
          <p:cNvPr id="11" name="panel-1-mark-3"/>
          <p:cNvSpPr/>
          <p:nvPr/>
        </p:nvSpPr>
        <p:spPr>
          <a:xfrm>
            <a:off x="822960" y="4023360"/>
            <a:ext cx="457200" cy="457200"/>
          </a:xfrm>
          <a:prstGeom prst="ellipse">
            <a:avLst/>
          </a:prstGeom>
          <a:solidFill>
            <a:srgbClr val="1F4E4A"/>
          </a:solidFill>
          <a:ln/>
        </p:spPr>
      </p:sp>
      <p:sp>
        <p:nvSpPr>
          <p:cNvPr id="12" name="panel-1-mark-text-3"/>
          <p:cNvSpPr txBox="1"/>
          <p:nvPr/>
        </p:nvSpPr>
        <p:spPr>
          <a:xfrm>
            <a:off x="82296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panel-1-item-3"/>
          <p:cNvSpPr txBox="1"/>
          <p:nvPr/>
        </p:nvSpPr>
        <p:spPr>
          <a:xfrm>
            <a:off x="1417320" y="3977640"/>
            <a:ext cx="4297680" cy="731520"/>
          </a:xfrm>
          <a:prstGeom prst="rect">
            <a:avLst/>
          </a:prstGeom>
          <a:noFill/>
          <a:ln/>
        </p:spPr>
        <p:txBody>
          <a:bodyPr wrap="square" lIns="0" tIns="0" rIns="0" bIns="0" rtlCol="0" anchor="ctr"/>
          <a:lstStyle/>
          <a:p>
            <a:pPr indent="0" marL="0">
              <a:buNone/>
            </a:pPr>
            <a:r>
              <a:rPr lang="en-US" sz="1500" dirty="0">
                <a:solidFill>
                  <a:srgbClr val="1B2A2F"/>
                </a:solidFill>
              </a:rPr>
              <a:t>Comparación confiable: partición por perro, umbral de validación y prueba única</a:t>
            </a:r>
            <a:endParaRPr lang="en-US" sz="1500" dirty="0"/>
          </a:p>
        </p:txBody>
      </p:sp>
      <p:sp>
        <p:nvSpPr>
          <p:cNvPr id="14" name="panel-2"/>
          <p:cNvSpPr/>
          <p:nvPr/>
        </p:nvSpPr>
        <p:spPr>
          <a:xfrm>
            <a:off x="6172200" y="1325880"/>
            <a:ext cx="5440680" cy="4800600"/>
          </a:xfrm>
          <a:prstGeom prst="roundRect">
            <a:avLst>
              <a:gd name="adj" fmla="val 2286"/>
            </a:avLst>
          </a:prstGeom>
          <a:solidFill>
            <a:srgbClr val="EEF4F2"/>
          </a:solidFill>
          <a:ln/>
        </p:spPr>
      </p:sp>
      <p:sp>
        <p:nvSpPr>
          <p:cNvPr id="15" name="panel-head-2"/>
          <p:cNvSpPr txBox="1"/>
          <p:nvPr/>
        </p:nvSpPr>
        <p:spPr>
          <a:xfrm>
            <a:off x="6446520" y="1554480"/>
            <a:ext cx="4892040" cy="457200"/>
          </a:xfrm>
          <a:prstGeom prst="rect">
            <a:avLst/>
          </a:prstGeom>
          <a:noFill/>
          <a:ln/>
        </p:spPr>
        <p:txBody>
          <a:bodyPr wrap="square" lIns="0" tIns="0" rIns="0" bIns="0" rtlCol="0" anchor="ctr"/>
          <a:lstStyle/>
          <a:p>
            <a:pPr indent="0" marL="0">
              <a:buNone/>
            </a:pPr>
            <a:r>
              <a:rPr lang="en-US" sz="2200" b="1" dirty="0">
                <a:solidFill>
                  <a:srgbClr val="1F4E4A"/>
                </a:solidFill>
                <a:latin typeface="Cambria" pitchFamily="34" charset="0"/>
                <a:ea typeface="Cambria" pitchFamily="34" charset="-122"/>
                <a:cs typeface="Cambria" pitchFamily="34" charset="-120"/>
              </a:rPr>
              <a:t>Limitaciones</a:t>
            </a:r>
            <a:endParaRPr lang="en-US" sz="2200" dirty="0"/>
          </a:p>
        </p:txBody>
      </p:sp>
      <p:sp>
        <p:nvSpPr>
          <p:cNvPr id="16" name="panel-2-mark-1"/>
          <p:cNvSpPr/>
          <p:nvPr/>
        </p:nvSpPr>
        <p:spPr>
          <a:xfrm>
            <a:off x="6446520" y="2286000"/>
            <a:ext cx="457200" cy="457200"/>
          </a:xfrm>
          <a:prstGeom prst="ellipse">
            <a:avLst/>
          </a:prstGeom>
          <a:solidFill>
            <a:srgbClr val="C8553D"/>
          </a:solidFill>
          <a:ln/>
        </p:spPr>
      </p:sp>
      <p:sp>
        <p:nvSpPr>
          <p:cNvPr id="17" name="panel-2-mark-text-1"/>
          <p:cNvSpPr txBox="1"/>
          <p:nvPr/>
        </p:nvSpPr>
        <p:spPr>
          <a:xfrm>
            <a:off x="644652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8" name="panel-2-item-1"/>
          <p:cNvSpPr txBox="1"/>
          <p:nvPr/>
        </p:nvSpPr>
        <p:spPr>
          <a:xfrm>
            <a:off x="7040880" y="2240280"/>
            <a:ext cx="4297680" cy="731520"/>
          </a:xfrm>
          <a:prstGeom prst="rect">
            <a:avLst/>
          </a:prstGeom>
          <a:noFill/>
          <a:ln/>
        </p:spPr>
        <p:txBody>
          <a:bodyPr wrap="square" lIns="0" tIns="0" rIns="0" bIns="0" rtlCol="0" anchor="ctr"/>
          <a:lstStyle/>
          <a:p>
            <a:pPr indent="0" marL="0">
              <a:buNone/>
            </a:pPr>
            <a:r>
              <a:rPr lang="en-US" sz="1500" dirty="0">
                <a:solidFill>
                  <a:srgbClr val="1B2A2F"/>
                </a:solidFill>
              </a:rPr>
              <a:t>El umbral aceptó 8,8 % de perros sin registro; el objetivo era 5 %</a:t>
            </a:r>
            <a:endParaRPr lang="en-US" sz="1500" dirty="0"/>
          </a:p>
        </p:txBody>
      </p:sp>
      <p:sp>
        <p:nvSpPr>
          <p:cNvPr id="19" name="panel-2-mark-2"/>
          <p:cNvSpPr/>
          <p:nvPr/>
        </p:nvSpPr>
        <p:spPr>
          <a:xfrm>
            <a:off x="6446520" y="3154680"/>
            <a:ext cx="457200" cy="457200"/>
          </a:xfrm>
          <a:prstGeom prst="ellipse">
            <a:avLst/>
          </a:prstGeom>
          <a:solidFill>
            <a:srgbClr val="C8553D"/>
          </a:solidFill>
          <a:ln/>
        </p:spPr>
      </p:sp>
      <p:sp>
        <p:nvSpPr>
          <p:cNvPr id="20" name="panel-2-mark-text-2"/>
          <p:cNvSpPr txBox="1"/>
          <p:nvPr/>
        </p:nvSpPr>
        <p:spPr>
          <a:xfrm>
            <a:off x="644652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1" name="panel-2-item-2"/>
          <p:cNvSpPr txBox="1"/>
          <p:nvPr/>
        </p:nvSpPr>
        <p:spPr>
          <a:xfrm>
            <a:off x="7040880" y="3108960"/>
            <a:ext cx="4297680" cy="731520"/>
          </a:xfrm>
          <a:prstGeom prst="rect">
            <a:avLst/>
          </a:prstGeom>
          <a:noFill/>
          <a:ln/>
        </p:spPr>
        <p:txBody>
          <a:bodyPr wrap="square" lIns="0" tIns="0" rIns="0" bIns="0" rtlCol="0" anchor="ctr"/>
          <a:lstStyle/>
          <a:p>
            <a:pPr indent="0" marL="0">
              <a:buNone/>
            </a:pPr>
            <a:r>
              <a:rPr lang="en-US" sz="1500" dirty="0">
                <a:solidFill>
                  <a:srgbClr val="1B2A2F"/>
                </a:solidFill>
              </a:rPr>
              <a:t>Necesita la cara centrada: no detecta ni alinea rostros</a:t>
            </a:r>
            <a:endParaRPr lang="en-US" sz="1500" dirty="0"/>
          </a:p>
        </p:txBody>
      </p:sp>
      <p:sp>
        <p:nvSpPr>
          <p:cNvPr id="22" name="panel-2-mark-3"/>
          <p:cNvSpPr/>
          <p:nvPr/>
        </p:nvSpPr>
        <p:spPr>
          <a:xfrm>
            <a:off x="6446520" y="4023360"/>
            <a:ext cx="457200" cy="457200"/>
          </a:xfrm>
          <a:prstGeom prst="ellipse">
            <a:avLst/>
          </a:prstGeom>
          <a:solidFill>
            <a:srgbClr val="C8553D"/>
          </a:solidFill>
          <a:ln/>
        </p:spPr>
      </p:sp>
      <p:sp>
        <p:nvSpPr>
          <p:cNvPr id="23" name="panel-2-mark-text-3"/>
          <p:cNvSpPr txBox="1"/>
          <p:nvPr/>
        </p:nvSpPr>
        <p:spPr>
          <a:xfrm>
            <a:off x="644652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4" name="panel-2-item-3"/>
          <p:cNvSpPr txBox="1"/>
          <p:nvPr/>
        </p:nvSpPr>
        <p:spPr>
          <a:xfrm>
            <a:off x="7040880" y="3977640"/>
            <a:ext cx="4297680" cy="731520"/>
          </a:xfrm>
          <a:prstGeom prst="rect">
            <a:avLst/>
          </a:prstGeom>
          <a:noFill/>
          <a:ln/>
        </p:spPr>
        <p:txBody>
          <a:bodyPr wrap="square" lIns="0" tIns="0" rIns="0" bIns="0" rtlCol="0" anchor="ctr"/>
          <a:lstStyle/>
          <a:p>
            <a:pPr indent="0" marL="0">
              <a:buNone/>
            </a:pPr>
            <a:r>
              <a:rPr lang="en-US" sz="1500" dirty="0">
                <a:solidFill>
                  <a:srgbClr val="1B2A2F"/>
                </a:solidFill>
              </a:rPr>
              <a:t>Confunde perros casi idénticos (error real):</a:t>
            </a:r>
            <a:endParaRPr lang="en-US" sz="1500" dirty="0"/>
          </a:p>
        </p:txBody>
      </p:sp>
      <p:sp>
        <p:nvSpPr>
          <p:cNvPr id="25" name="conclusion-numbers"/>
          <p:cNvSpPr txBox="1"/>
          <p:nvPr/>
        </p:nvSpPr>
        <p:spPr>
          <a:xfrm>
            <a:off x="822960" y="4800600"/>
            <a:ext cx="4892040" cy="822960"/>
          </a:xfrm>
          <a:prstGeom prst="rect">
            <a:avLst/>
          </a:prstGeom>
          <a:noFill/>
          <a:ln/>
        </p:spPr>
        <p:txBody>
          <a:bodyPr wrap="square" lIns="0" tIns="0" rIns="0" bIns="0" rtlCol="0" anchor="ctr"/>
          <a:lstStyle/>
          <a:p>
            <a:pPr indent="0" marL="0">
              <a:buNone/>
            </a:pPr>
            <a:r>
              <a:rPr lang="en-US" sz="3600" b="1" dirty="0">
                <a:solidFill>
                  <a:srgbClr val="E8963B"/>
                </a:solidFill>
                <a:latin typeface="Cambria" pitchFamily="34" charset="0"/>
                <a:ea typeface="Cambria" pitchFamily="34" charset="-122"/>
                <a:cs typeface="Cambria" pitchFamily="34" charset="-120"/>
              </a:rPr>
              <a:t>83,2 %</a:t>
            </a:r>
            <a:pPr indent="0" marL="0">
              <a:buNone/>
            </a:pPr>
            <a:r>
              <a:rPr lang="en-US" sz="1500" dirty="0">
                <a:solidFill>
                  <a:srgbClr val="1B2A2F"/>
                </a:solidFill>
              </a:rPr>
              <a:t>  Top-1     </a:t>
            </a:r>
            <a:pPr indent="0" marL="0">
              <a:buNone/>
            </a:pPr>
            <a:r>
              <a:rPr lang="en-US" sz="3600" b="1" dirty="0">
                <a:solidFill>
                  <a:srgbClr val="1F4E4A"/>
                </a:solidFill>
                <a:latin typeface="Cambria" pitchFamily="34" charset="0"/>
                <a:ea typeface="Cambria" pitchFamily="34" charset="-122"/>
                <a:cs typeface="Cambria" pitchFamily="34" charset="-120"/>
              </a:rPr>
              <a:t>93,0 %</a:t>
            </a:r>
            <a:pPr indent="0" marL="0">
              <a:buNone/>
            </a:pPr>
            <a:r>
              <a:rPr lang="en-US" sz="1500" dirty="0">
                <a:solidFill>
                  <a:srgbClr val="1B2A2F"/>
                </a:solidFill>
              </a:rPr>
              <a:t>  Recall@3</a:t>
            </a:r>
            <a:endParaRPr lang="en-US" sz="3600" dirty="0"/>
          </a:p>
        </p:txBody>
      </p:sp>
      <p:pic>
        <p:nvPicPr>
          <p:cNvPr id="26" name="error-query" descr="Foto de consulta de un perro registrado">    </p:cNvPr>
          <p:cNvPicPr>
            <a:picLocks noChangeAspect="1"/>
          </p:cNvPicPr>
          <p:nvPr/>
        </p:nvPicPr>
        <p:blipFill>
          <a:blip r:embed="rId1"/>
          <a:stretch>
            <a:fillRect/>
          </a:stretch>
        </p:blipFill>
        <p:spPr>
          <a:xfrm>
            <a:off x="7086600" y="4572000"/>
            <a:ext cx="1280160" cy="1280160"/>
          </a:xfrm>
          <a:prstGeom prst="ellipse">
            <a:avLst/>
          </a:prstGeom>
        </p:spPr>
      </p:pic>
      <p:pic>
        <p:nvPicPr>
          <p:cNvPr id="27" name="error-suggested" descr="Perro distinto sugerido por error">    </p:cNvPr>
          <p:cNvPicPr>
            <a:picLocks noChangeAspect="1"/>
          </p:cNvPicPr>
          <p:nvPr/>
        </p:nvPicPr>
        <p:blipFill>
          <a:blip r:embed="rId2"/>
          <a:stretch>
            <a:fillRect/>
          </a:stretch>
        </p:blipFill>
        <p:spPr>
          <a:xfrm>
            <a:off x="8915400" y="4572000"/>
            <a:ext cx="1280160" cy="1280160"/>
          </a:xfrm>
          <a:prstGeom prst="ellipse">
            <a:avLst/>
          </a:prstGeom>
        </p:spPr>
      </p:pic>
      <p:sp>
        <p:nvSpPr>
          <p:cNvPr id="28" name="error-arrow"/>
          <p:cNvSpPr txBox="1"/>
          <p:nvPr/>
        </p:nvSpPr>
        <p:spPr>
          <a:xfrm>
            <a:off x="8412480" y="4572000"/>
            <a:ext cx="502920" cy="1280160"/>
          </a:xfrm>
          <a:prstGeom prst="rect">
            <a:avLst/>
          </a:prstGeom>
          <a:noFill/>
          <a:ln/>
        </p:spPr>
        <p:txBody>
          <a:bodyPr wrap="square" lIns="0" tIns="0" rIns="0" bIns="0" rtlCol="0" anchor="ctr"/>
          <a:lstStyle/>
          <a:p>
            <a:pPr algn="ctr" indent="0" marL="0">
              <a:buNone/>
            </a:pPr>
            <a:r>
              <a:rPr lang="en-US" sz="2400" b="1" dirty="0">
                <a:solidFill>
                  <a:srgbClr val="C8553D"/>
                </a:solidFill>
              </a:rPr>
              <a:t>→</a:t>
            </a:r>
            <a:endParaRPr lang="en-US" sz="2400" dirty="0"/>
          </a:p>
        </p:txBody>
      </p:sp>
      <p:sp>
        <p:nvSpPr>
          <p:cNvPr id="29" name="error-caption"/>
          <p:cNvSpPr txBox="1"/>
          <p:nvPr/>
        </p:nvSpPr>
        <p:spPr>
          <a:xfrm>
            <a:off x="10332720" y="4572000"/>
            <a:ext cx="1143000" cy="1280160"/>
          </a:xfrm>
          <a:prstGeom prst="rect">
            <a:avLst/>
          </a:prstGeom>
          <a:noFill/>
          <a:ln/>
        </p:spPr>
        <p:txBody>
          <a:bodyPr wrap="square" lIns="0" tIns="0" rIns="0" bIns="0" rtlCol="0" anchor="ctr"/>
          <a:lstStyle/>
          <a:p>
            <a:pPr indent="0" marL="0">
              <a:buNone/>
            </a:pPr>
            <a:r>
              <a:rPr lang="en-US" sz="1200" b="1" dirty="0">
                <a:solidFill>
                  <a:srgbClr val="5F6E6C"/>
                </a:solidFill>
              </a:rPr>
              <a:t>Otro perro</a:t>
            </a:r>
            <a:endParaRPr lang="en-US" sz="1200" dirty="0"/>
          </a:p>
          <a:p>
            <a:pPr indent="0" marL="0">
              <a:buNone/>
            </a:pPr>
            <a:r>
              <a:rPr lang="en-US" sz="1200" dirty="0">
                <a:solidFill>
                  <a:srgbClr val="5F6E6C"/>
                </a:solidFill>
              </a:rPr>
              <a:t>distancia 0,76</a:t>
            </a:r>
            <a:endParaRPr lang="en-US" sz="12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losing-title"/>
          <p:cNvSpPr txBox="1"/>
          <p:nvPr/>
        </p:nvSpPr>
        <p:spPr>
          <a:xfrm>
            <a:off x="640080" y="548640"/>
            <a:ext cx="108813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Repositorio y ejecución</a:t>
            </a:r>
            <a:endParaRPr lang="en-US" sz="3600" dirty="0"/>
          </a:p>
        </p:txBody>
      </p:sp>
      <p:sp>
        <p:nvSpPr>
          <p:cNvPr id="3" name="closing-repo"/>
          <p:cNvSpPr txBox="1"/>
          <p:nvPr/>
        </p:nvSpPr>
        <p:spPr>
          <a:xfrm>
            <a:off x="640080" y="1508760"/>
            <a:ext cx="10881360" cy="1005840"/>
          </a:xfrm>
          <a:prstGeom prst="rect">
            <a:avLst/>
          </a:prstGeom>
          <a:noFill/>
          <a:ln/>
        </p:spPr>
        <p:txBody>
          <a:bodyPr wrap="square" lIns="0" tIns="0" rIns="0" bIns="0" rtlCol="0" anchor="t"/>
          <a:lstStyle/>
          <a:p>
            <a:pPr indent="0" marL="0">
              <a:buNone/>
            </a:pPr>
            <a:r>
              <a:rPr lang="en-US" sz="2400" b="1" dirty="0">
                <a:solidFill>
                  <a:srgbClr val="E8963B"/>
                </a:solidFill>
              </a:rPr>
              <a:t>Repositorio: pet-reid-service (enlace en la entrega)</a:t>
            </a:r>
            <a:endParaRPr lang="en-US" sz="2400" dirty="0"/>
          </a:p>
          <a:p>
            <a:pPr indent="0" marL="0">
              <a:buNone/>
            </a:pPr>
            <a:r>
              <a:rPr lang="en-US" sz="1400" dirty="0">
                <a:solidFill>
                  <a:srgbClr val="EEF4F2"/>
                </a:solidFill>
              </a:rPr>
              <a:t>Versión final: tag v1.0 · README con instalación, entrenamiento, evaluación y ejecución</a:t>
            </a:r>
            <a:endParaRPr lang="en-US" sz="2400" dirty="0"/>
          </a:p>
        </p:txBody>
      </p:sp>
      <p:sp>
        <p:nvSpPr>
          <p:cNvPr id="4" name="command-box-1"/>
          <p:cNvSpPr/>
          <p:nvPr/>
        </p:nvSpPr>
        <p:spPr>
          <a:xfrm>
            <a:off x="640080" y="2697480"/>
            <a:ext cx="4937760" cy="640080"/>
          </a:xfrm>
          <a:prstGeom prst="roundRect">
            <a:avLst>
              <a:gd name="adj" fmla="val 11429"/>
            </a:avLst>
          </a:prstGeom>
          <a:solidFill>
            <a:srgbClr val="173B38"/>
          </a:solidFill>
          <a:ln/>
        </p:spPr>
      </p:sp>
      <p:sp>
        <p:nvSpPr>
          <p:cNvPr id="5" name="command-1"/>
          <p:cNvSpPr txBox="1"/>
          <p:nvPr/>
        </p:nvSpPr>
        <p:spPr>
          <a:xfrm>
            <a:off x="868680" y="2697480"/>
            <a:ext cx="4572000" cy="640080"/>
          </a:xfrm>
          <a:prstGeom prst="rect">
            <a:avLst/>
          </a:prstGeom>
          <a:noFill/>
          <a:ln/>
        </p:spPr>
        <p:txBody>
          <a:bodyPr wrap="square" lIns="0" tIns="0" rIns="0" bIns="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python run.py</a:t>
            </a:r>
            <a:endParaRPr lang="en-US" sz="1600" dirty="0"/>
          </a:p>
        </p:txBody>
      </p:sp>
      <p:sp>
        <p:nvSpPr>
          <p:cNvPr id="6" name="command-desc-1"/>
          <p:cNvSpPr txBox="1"/>
          <p:nvPr/>
        </p:nvSpPr>
        <p:spPr>
          <a:xfrm>
            <a:off x="5852160" y="2697480"/>
            <a:ext cx="5669280" cy="640080"/>
          </a:xfrm>
          <a:prstGeom prst="rect">
            <a:avLst/>
          </a:prstGeom>
          <a:noFill/>
          <a:ln/>
        </p:spPr>
        <p:txBody>
          <a:bodyPr wrap="square" lIns="0" tIns="0" rIns="0" bIns="0" rtlCol="0" anchor="ctr"/>
          <a:lstStyle/>
          <a:p>
            <a:pPr indent="0" marL="0">
              <a:buNone/>
            </a:pPr>
            <a:r>
              <a:rPr lang="en-US" sz="1500" dirty="0">
                <a:solidFill>
                  <a:srgbClr val="EEF4F2"/>
                </a:solidFill>
              </a:rPr>
              <a:t>abre http://127.0.0.1:9100 (API en /docs)</a:t>
            </a:r>
            <a:endParaRPr lang="en-US" sz="1500" dirty="0"/>
          </a:p>
        </p:txBody>
      </p:sp>
      <p:sp>
        <p:nvSpPr>
          <p:cNvPr id="7" name="command-box-2"/>
          <p:cNvSpPr/>
          <p:nvPr/>
        </p:nvSpPr>
        <p:spPr>
          <a:xfrm>
            <a:off x="640080" y="3611880"/>
            <a:ext cx="4937760" cy="640080"/>
          </a:xfrm>
          <a:prstGeom prst="roundRect">
            <a:avLst>
              <a:gd name="adj" fmla="val 11429"/>
            </a:avLst>
          </a:prstGeom>
          <a:solidFill>
            <a:srgbClr val="173B38"/>
          </a:solidFill>
          <a:ln/>
        </p:spPr>
      </p:sp>
      <p:sp>
        <p:nvSpPr>
          <p:cNvPr id="8" name="command-2"/>
          <p:cNvSpPr txBox="1"/>
          <p:nvPr/>
        </p:nvSpPr>
        <p:spPr>
          <a:xfrm>
            <a:off x="868680" y="3611880"/>
            <a:ext cx="4572000" cy="640080"/>
          </a:xfrm>
          <a:prstGeom prst="rect">
            <a:avLst/>
          </a:prstGeom>
          <a:noFill/>
          <a:ln/>
        </p:spPr>
        <p:txBody>
          <a:bodyPr wrap="square" lIns="0" tIns="0" rIns="0" bIns="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docker compose up -d --build</a:t>
            </a:r>
            <a:endParaRPr lang="en-US" sz="1600" dirty="0"/>
          </a:p>
        </p:txBody>
      </p:sp>
      <p:sp>
        <p:nvSpPr>
          <p:cNvPr id="9" name="command-desc-2"/>
          <p:cNvSpPr txBox="1"/>
          <p:nvPr/>
        </p:nvSpPr>
        <p:spPr>
          <a:xfrm>
            <a:off x="5852160" y="3611880"/>
            <a:ext cx="5669280" cy="640080"/>
          </a:xfrm>
          <a:prstGeom prst="rect">
            <a:avLst/>
          </a:prstGeom>
          <a:noFill/>
          <a:ln/>
        </p:spPr>
        <p:txBody>
          <a:bodyPr wrap="square" lIns="0" tIns="0" rIns="0" bIns="0" rtlCol="0" anchor="ctr"/>
          <a:lstStyle/>
          <a:p>
            <a:pPr indent="0" marL="0">
              <a:buNone/>
            </a:pPr>
            <a:r>
              <a:rPr lang="en-US" sz="1500" dirty="0">
                <a:solidFill>
                  <a:srgbClr val="EEF4F2"/>
                </a:solidFill>
              </a:rPr>
              <a:t>mismo servicio en un contenedor</a:t>
            </a:r>
            <a:endParaRPr lang="en-US" sz="1500" dirty="0"/>
          </a:p>
        </p:txBody>
      </p:sp>
      <p:sp>
        <p:nvSpPr>
          <p:cNvPr id="10" name="command-box-3"/>
          <p:cNvSpPr/>
          <p:nvPr/>
        </p:nvSpPr>
        <p:spPr>
          <a:xfrm>
            <a:off x="640080" y="4526280"/>
            <a:ext cx="4937760" cy="640080"/>
          </a:xfrm>
          <a:prstGeom prst="roundRect">
            <a:avLst>
              <a:gd name="adj" fmla="val 11429"/>
            </a:avLst>
          </a:prstGeom>
          <a:solidFill>
            <a:srgbClr val="173B38"/>
          </a:solidFill>
          <a:ln/>
        </p:spPr>
      </p:sp>
      <p:sp>
        <p:nvSpPr>
          <p:cNvPr id="11" name="command-3"/>
          <p:cNvSpPr txBox="1"/>
          <p:nvPr/>
        </p:nvSpPr>
        <p:spPr>
          <a:xfrm>
            <a:off x="868680" y="4526280"/>
            <a:ext cx="4572000" cy="640080"/>
          </a:xfrm>
          <a:prstGeom prst="rect">
            <a:avLst/>
          </a:prstGeom>
          <a:noFill/>
          <a:ln/>
        </p:spPr>
        <p:txBody>
          <a:bodyPr wrap="square" lIns="0" tIns="0" rIns="0" bIns="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python -m pytest -q</a:t>
            </a:r>
            <a:endParaRPr lang="en-US" sz="1600" dirty="0"/>
          </a:p>
        </p:txBody>
      </p:sp>
      <p:sp>
        <p:nvSpPr>
          <p:cNvPr id="12" name="command-desc-3"/>
          <p:cNvSpPr txBox="1"/>
          <p:nvPr/>
        </p:nvSpPr>
        <p:spPr>
          <a:xfrm>
            <a:off x="5852160" y="4526280"/>
            <a:ext cx="5669280" cy="640080"/>
          </a:xfrm>
          <a:prstGeom prst="rect">
            <a:avLst/>
          </a:prstGeom>
          <a:noFill/>
          <a:ln/>
        </p:spPr>
        <p:txBody>
          <a:bodyPr wrap="square" lIns="0" tIns="0" rIns="0" bIns="0" rtlCol="0" anchor="ctr"/>
          <a:lstStyle/>
          <a:p>
            <a:pPr indent="0" marL="0">
              <a:buNone/>
            </a:pPr>
            <a:r>
              <a:rPr lang="en-US" sz="1500" dirty="0">
                <a:solidFill>
                  <a:srgbClr val="EEF4F2"/>
                </a:solidFill>
              </a:rPr>
              <a:t>28 pruebas: válido, difícil, inválido y flujo completo</a:t>
            </a:r>
            <a:endParaRPr lang="en-US" sz="1500" dirty="0"/>
          </a:p>
        </p:txBody>
      </p:sp>
      <p:sp>
        <p:nvSpPr>
          <p:cNvPr id="13" name="closing-thanks"/>
          <p:cNvSpPr txBox="1"/>
          <p:nvPr/>
        </p:nvSpPr>
        <p:spPr>
          <a:xfrm>
            <a:off x="640080" y="5715000"/>
            <a:ext cx="10881360" cy="82296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¡Gracias!</a:t>
            </a:r>
            <a:endParaRPr lang="en-US" sz="2200" dirty="0"/>
          </a:p>
          <a:p>
            <a:pPr indent="0" marL="0">
              <a:buNone/>
            </a:pPr>
            <a:r>
              <a:rPr lang="en-US" sz="1300" dirty="0">
                <a:solidFill>
                  <a:srgbClr val="EEF4F2"/>
                </a:solidFill>
              </a:rPr>
              <a:t>Imer Vladimir Coaguila Patiño · Maestría en Ingeniería de Software</a:t>
            </a:r>
            <a:endParaRPr lang="en-US" sz="2200" dirty="0"/>
          </a:p>
        </p:txBody>
      </p:sp>
      <p:sp>
        <p:nvSpPr>
          <p:cNvPr id="15" name="Text 0"/>
          <p:cNvSpPr/>
          <p:nvPr>
            <p:ph idx="100" type="title" hasCustomPrompt="1"/>
          </p:nvPr>
        </p:nvSpPr>
        <p:spPr>
          <a:xfrm>
            <a:off x="640080" y="1737360"/>
            <a:ext cx="6309360" cy="1554480"/>
          </a:xfrm>
          <a:prstGeom prst="rect">
            <a:avLst/>
          </a:prstGeom>
          <a:noFill/>
          <a:ln/>
        </p:spPr>
        <p:txBody>
          <a:bodyPr wrap="square" lIns="0" tIns="0" rIns="0" bIns="0" rtlCol="0" anchor="b"/>
          <a:lstStyle/>
          <a:p>
            <a:pPr algn="l" indent="0" marL="0">
              <a:buNone/>
            </a:pPr>
            <a:endParaRPr lang="en-US" sz="4400" dirty="0"/>
          </a:p>
        </p:txBody>
      </p:sp>
      <p:sp>
        <p:nvSpPr>
          <p:cNvPr id="16" name="Text 0"/>
          <p:cNvSpPr/>
          <p:nvPr>
            <p:ph idx="101" type="body" hasCustomPrompt="1"/>
          </p:nvPr>
        </p:nvSpPr>
        <p:spPr>
          <a:xfrm>
            <a:off x="640080" y="3429000"/>
            <a:ext cx="6309360" cy="914400"/>
          </a:xfrm>
          <a:prstGeom prst="rect">
            <a:avLst/>
          </a:prstGeom>
          <a:noFill/>
          <a:ln/>
        </p:spPr>
        <p:txBody>
          <a:bodyPr wrap="square" lIns="0" tIns="0" rIns="0" bIns="0" rtlCol="0" anchor="t"/>
          <a:lstStyle/>
          <a:p>
            <a:pPr algn="l" indent="0" marL="0">
              <a:buNone/>
            </a:pPr>
            <a:endParaRPr lang="en-US" sz="2000" dirty="0"/>
          </a:p>
        </p:txBody>
      </p:sp>
      <p:sp>
        <p:nvSpPr>
          <p:cNvPr id="17" name="Text 0"/>
          <p:cNvSpPr/>
          <p:nvPr>
            <p:ph idx="102" type="body" hasCustomPrompt="1"/>
          </p:nvPr>
        </p:nvSpPr>
        <p:spPr>
          <a:xfrm>
            <a:off x="640080" y="5074920"/>
            <a:ext cx="6309360" cy="1005840"/>
          </a:xfrm>
          <a:prstGeom prst="rect">
            <a:avLst/>
          </a:prstGeom>
          <a:noFill/>
          <a:ln/>
        </p:spPr>
        <p:txBody>
          <a:bodyPr wrap="square" lIns="0" tIns="0" rIns="0" bIns="0" rtlCol="0" anchor="t"/>
          <a:lstStyle/>
          <a:p>
            <a:pPr algn="l" indent="0" marL="0">
              <a:buNone/>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rgbClr val="1F4E4A"/>
                </a:solidFill>
              </a:rPr>
              <a:t>Respaldo: glosario</a:t>
            </a:r>
            <a:endParaRPr lang="en-US" sz="3200" dirty="0"/>
          </a:p>
        </p:txBody>
      </p:sp>
      <p:graphicFrame>
        <p:nvGraphicFramePr>
          <p:cNvPr id="7" name="glossary-table-1"/>
          <p:cNvGraphicFramePr>
            <a:graphicFrameLocks noGrp="1"/>
          </p:cNvGraphicFramePr>
          <p:nvPr>
            <p:extLst>
              <p:ext uri="{D42A27DB-BD31-4B8C-83A1-F6EECF244321}">
                <p14:modId xmlns:p14="http://schemas.microsoft.com/office/powerpoint/2010/main" val="1579011935"/>
              </p:ext>
            </p:extLst>
          </p:nvPr>
        </p:nvGraphicFramePr>
        <p:xfrm>
          <a:off x="548640" y="1325880"/>
          <a:ext cx="5440680" cy="914400"/>
        </p:xfrm>
        <a:graphic>
          <a:graphicData uri="http://schemas.openxmlformats.org/drawingml/2006/table">
            <a:tbl>
              <a:tblPr/>
              <a:tblGrid>
                <a:gridCol w="1417320"/>
                <a:gridCol w="4023360"/>
              </a:tblGrid>
              <a:tr h="0">
                <a:tc>
                  <a:txBody>
                    <a:bodyPr/>
                    <a:lstStyle/>
                    <a:p>
                      <a:pPr indent="0" marL="0">
                        <a:buNone/>
                      </a:pPr>
                      <a:r>
                        <a:rPr lang="en-US" sz="1300" b="1" dirty="0">
                          <a:solidFill>
                            <a:srgbClr val="1F4E4A"/>
                          </a:solidFill>
                        </a:rPr>
                        <a:t>ResNet50</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Red neuronal ya entrenada con más de 1 millón de fotos (ImageNet). Aquí no se entrena: convierte cada foto en 2.048 números.</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Transfer learning</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Reutilizar un modelo entrenado por otros en lugar de entrenar uno desde cero.</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PCA</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Resume muchos números en menos (2.048 → 512) sin usar etiquetas: quita lo redundante.</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LDA</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Usa las etiquetas: aprende qué distingue a cada perro (512 → 128). Junta las fotos del mismo perro y separa las de perros distintos.</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Red siamesa</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Red de deep learning que aprende con pares de fotos: acerca las del mismo perro y aleja las de perros distintos.</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Línea base</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Método simple sin entrenamiento, para saber si el modelo aporta algo.</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bl>
          </a:graphicData>
        </a:graphic>
      </p:graphicFrame>
      <p:graphicFrame>
        <p:nvGraphicFramePr>
          <p:cNvPr id="13" name="glossary-table-2"/>
          <p:cNvGraphicFramePr>
            <a:graphicFrameLocks noGrp="1"/>
          </p:cNvGraphicFramePr>
          <p:nvPr>
            <p:extLst>
              <p:ext uri="{D42A27DB-BD31-4B8C-83A1-F6EECF244321}">
                <p14:modId xmlns:p14="http://schemas.microsoft.com/office/powerpoint/2010/main" val="1579011935"/>
              </p:ext>
            </p:extLst>
          </p:nvPr>
        </p:nvGraphicFramePr>
        <p:xfrm>
          <a:off x="6172200" y="1325880"/>
          <a:ext cx="5440680" cy="914400"/>
        </p:xfrm>
        <a:graphic>
          <a:graphicData uri="http://schemas.openxmlformats.org/drawingml/2006/table">
            <a:tbl>
              <a:tblPr/>
              <a:tblGrid>
                <a:gridCol w="1417320"/>
                <a:gridCol w="4023360"/>
              </a:tblGrid>
              <a:tr h="0">
                <a:tc>
                  <a:txBody>
                    <a:bodyPr/>
                    <a:lstStyle/>
                    <a:p>
                      <a:pPr indent="0" marL="0">
                        <a:buNone/>
                      </a:pPr>
                      <a:r>
                        <a:rPr lang="en-US" sz="1300" b="1" dirty="0">
                          <a:solidFill>
                            <a:srgbClr val="1F4E4A"/>
                          </a:solidFill>
                        </a:rPr>
                        <a:t>Distancia</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Qué tan distintas son dos fotos: menor = más parecidas. No es un porcentaje.</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Umbral</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Distancia máxima para aceptar una coincidencia; se calculó con validación.</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Top-1</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 de veces que el perro correcto sale en primer lugar.</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Recall@3</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 de veces que el perro correcto está entre los 3 candidatos mostrados.</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FAR</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 de perros no registrados a los que se les sugiere un dueño por error.</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E4A"/>
                          </a:solidFill>
                        </a:rPr>
                        <a:t>Validación / prueba</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EEF4F2"/>
                    </a:solidFill>
                  </a:tcPr>
                </a:tc>
                <a:tc>
                  <a:txBody>
                    <a:bodyPr/>
                    <a:lstStyle/>
                    <a:p>
                      <a:pPr indent="0" marL="0">
                        <a:buNone/>
                      </a:pPr>
                      <a:r>
                        <a:rPr lang="en-US" sz="1300" dirty="0">
                          <a:solidFill>
                            <a:srgbClr val="1B2A2F"/>
                          </a:solidFill>
                        </a:rPr>
                        <a:t>Validación: elegir método y umbral. Prueba: examen final, usado una sola vez.</a:t>
                      </a:r>
                      <a:endParaRPr lang="en-US" sz="1300" dirty="0"/>
                    </a:p>
                  </a:txBody>
                  <a:tcPr marL="54864" marR="54864" marT="54864" marB="54864" anchor="ctr">
                    <a:lnL w="9525" cap="flat" cmpd="sng" algn="ctr">
                      <a:solidFill>
                        <a:srgbClr val="D7E2DF"/>
                      </a:solidFill>
                      <a:prstDash val="solid"/>
                      <a:round/>
                      <a:headEnd type="none" w="med" len="med"/>
                      <a:tailEnd type="none" w="med" len="med"/>
                    </a:lnL>
                    <a:lnR w="9525" cap="flat" cmpd="sng" algn="ctr">
                      <a:solidFill>
                        <a:srgbClr val="D7E2DF"/>
                      </a:solidFill>
                      <a:prstDash val="solid"/>
                      <a:round/>
                      <a:headEnd type="none" w="med" len="med"/>
                      <a:tailEnd type="none" w="med" len="med"/>
                    </a:lnR>
                    <a:lnT w="9525" cap="flat" cmpd="sng" algn="ctr">
                      <a:solidFill>
                        <a:srgbClr val="D7E2DF"/>
                      </a:solidFill>
                      <a:prstDash val="solid"/>
                      <a:round/>
                      <a:headEnd type="none" w="med" len="med"/>
                      <a:tailEnd type="none" w="med" len="med"/>
                    </a:lnT>
                    <a:lnB w="9525" cap="flat" cmpd="sng" algn="ctr">
                      <a:solidFill>
                        <a:srgbClr val="D7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rgbClr val="1F4E4A"/>
                </a:solidFill>
              </a:rPr>
              <a:t>Respaldo: preguntas frecuentes</a:t>
            </a:r>
            <a:endParaRPr lang="en-US" sz="3200" dirty="0"/>
          </a:p>
        </p:txBody>
      </p:sp>
      <p:sp>
        <p:nvSpPr>
          <p:cNvPr id="3" name="faq-card-1"/>
          <p:cNvSpPr/>
          <p:nvPr/>
        </p:nvSpPr>
        <p:spPr>
          <a:xfrm>
            <a:off x="548640" y="1325880"/>
            <a:ext cx="5440680" cy="1463040"/>
          </a:xfrm>
          <a:prstGeom prst="roundRect">
            <a:avLst>
              <a:gd name="adj" fmla="val 6250"/>
            </a:avLst>
          </a:prstGeom>
          <a:solidFill>
            <a:srgbClr val="EEF4F2"/>
          </a:solidFill>
          <a:ln/>
        </p:spPr>
      </p:sp>
      <p:sp>
        <p:nvSpPr>
          <p:cNvPr id="4" name="faq-text-1"/>
          <p:cNvSpPr txBox="1"/>
          <p:nvPr/>
        </p:nvSpPr>
        <p:spPr>
          <a:xfrm>
            <a:off x="777240" y="1435608"/>
            <a:ext cx="4983480" cy="1243584"/>
          </a:xfrm>
          <a:prstGeom prst="rect">
            <a:avLst/>
          </a:prstGeom>
          <a:noFill/>
          <a:ln/>
        </p:spPr>
        <p:txBody>
          <a:bodyPr wrap="square" lIns="0" tIns="0" rIns="0" bIns="0" rtlCol="0" anchor="t"/>
          <a:lstStyle/>
          <a:p>
            <a:pPr indent="0" marL="0">
              <a:spcAft>
                <a:spcPts val="400"/>
              </a:spcAft>
              <a:buNone/>
            </a:pPr>
            <a:r>
              <a:rPr lang="en-US" sz="1500" b="1" dirty="0">
                <a:solidFill>
                  <a:srgbClr val="1F4E4A"/>
                </a:solidFill>
              </a:rPr>
              <a:t>¿Por qué PCA + LDA?</a:t>
            </a:r>
            <a:endParaRPr lang="en-US" sz="1500" dirty="0"/>
          </a:p>
          <a:p>
            <a:pPr indent="0" marL="0">
              <a:spcAft>
                <a:spcPts val="400"/>
              </a:spcAft>
              <a:buNone/>
            </a:pPr>
            <a:r>
              <a:rPr lang="en-US" sz="1300" dirty="0">
                <a:solidFill>
                  <a:srgbClr val="1B2A2F"/>
                </a:solidFill>
              </a:rPr>
              <a:t>La red siamesa apenas superaba a la línea base en validación: con 338 perros se sobreajusta. LDA, método clásico de reconocimiento de individuos, calcula la solución con una fórmula y ganó en validación.</a:t>
            </a:r>
            <a:endParaRPr lang="en-US" sz="1500" dirty="0"/>
          </a:p>
        </p:txBody>
      </p:sp>
      <p:sp>
        <p:nvSpPr>
          <p:cNvPr id="5" name="faq-card-2"/>
          <p:cNvSpPr/>
          <p:nvPr/>
        </p:nvSpPr>
        <p:spPr>
          <a:xfrm>
            <a:off x="6172200" y="1325880"/>
            <a:ext cx="5440680" cy="1463040"/>
          </a:xfrm>
          <a:prstGeom prst="roundRect">
            <a:avLst>
              <a:gd name="adj" fmla="val 6250"/>
            </a:avLst>
          </a:prstGeom>
          <a:solidFill>
            <a:srgbClr val="EEF4F2"/>
          </a:solidFill>
          <a:ln/>
        </p:spPr>
      </p:sp>
      <p:sp>
        <p:nvSpPr>
          <p:cNvPr id="6" name="faq-text-2"/>
          <p:cNvSpPr txBox="1"/>
          <p:nvPr/>
        </p:nvSpPr>
        <p:spPr>
          <a:xfrm>
            <a:off x="6400800" y="1435608"/>
            <a:ext cx="4983480" cy="1243584"/>
          </a:xfrm>
          <a:prstGeom prst="rect">
            <a:avLst/>
          </a:prstGeom>
          <a:noFill/>
          <a:ln/>
        </p:spPr>
        <p:txBody>
          <a:bodyPr wrap="square" lIns="0" tIns="0" rIns="0" bIns="0" rtlCol="0" anchor="t"/>
          <a:lstStyle/>
          <a:p>
            <a:pPr indent="0" marL="0">
              <a:spcAft>
                <a:spcPts val="400"/>
              </a:spcAft>
              <a:buNone/>
            </a:pPr>
            <a:r>
              <a:rPr lang="en-US" sz="1500" b="1" dirty="0">
                <a:solidFill>
                  <a:srgbClr val="1F4E4A"/>
                </a:solidFill>
              </a:rPr>
              <a:t>¿Por qué ResNet50?</a:t>
            </a:r>
            <a:endParaRPr lang="en-US" sz="1500" dirty="0"/>
          </a:p>
          <a:p>
            <a:pPr indent="0" marL="0">
              <a:spcAft>
                <a:spcPts val="400"/>
              </a:spcAft>
              <a:buNone/>
            </a:pPr>
            <a:r>
              <a:rPr lang="en-US" sz="1300" dirty="0">
                <a:solidFill>
                  <a:srgbClr val="1B2A2F"/>
                </a:solidFill>
              </a:rPr>
              <a:t>Extractor estándar con buen equilibrio entre precisión y costo, disponible en Keras y en CPU. Se fijó para comparar métodos sobre el mismo extractor.</a:t>
            </a:r>
            <a:endParaRPr lang="en-US" sz="1500" dirty="0"/>
          </a:p>
        </p:txBody>
      </p:sp>
      <p:sp>
        <p:nvSpPr>
          <p:cNvPr id="7" name="faq-card-3"/>
          <p:cNvSpPr/>
          <p:nvPr/>
        </p:nvSpPr>
        <p:spPr>
          <a:xfrm>
            <a:off x="548640" y="2926080"/>
            <a:ext cx="5440680" cy="1463040"/>
          </a:xfrm>
          <a:prstGeom prst="roundRect">
            <a:avLst>
              <a:gd name="adj" fmla="val 6250"/>
            </a:avLst>
          </a:prstGeom>
          <a:solidFill>
            <a:srgbClr val="EEF4F2"/>
          </a:solidFill>
          <a:ln/>
        </p:spPr>
      </p:sp>
      <p:sp>
        <p:nvSpPr>
          <p:cNvPr id="8" name="faq-text-3"/>
          <p:cNvSpPr txBox="1"/>
          <p:nvPr/>
        </p:nvSpPr>
        <p:spPr>
          <a:xfrm>
            <a:off x="777240" y="3035808"/>
            <a:ext cx="4983480" cy="1243584"/>
          </a:xfrm>
          <a:prstGeom prst="rect">
            <a:avLst/>
          </a:prstGeom>
          <a:noFill/>
          <a:ln/>
        </p:spPr>
        <p:txBody>
          <a:bodyPr wrap="square" lIns="0" tIns="0" rIns="0" bIns="0" rtlCol="0" anchor="t"/>
          <a:lstStyle/>
          <a:p>
            <a:pPr indent="0" marL="0">
              <a:spcAft>
                <a:spcPts val="400"/>
              </a:spcAft>
              <a:buNone/>
            </a:pPr>
            <a:r>
              <a:rPr lang="en-US" sz="1500" b="1" dirty="0">
                <a:solidFill>
                  <a:srgbClr val="1F4E4A"/>
                </a:solidFill>
              </a:rPr>
              <a:t>¿Cómo evitaste hacer trampa?</a:t>
            </a:r>
            <a:endParaRPr lang="en-US" sz="1500" dirty="0"/>
          </a:p>
          <a:p>
            <a:pPr indent="0" marL="0">
              <a:spcAft>
                <a:spcPts val="400"/>
              </a:spcAft>
              <a:buNone/>
            </a:pPr>
            <a:r>
              <a:rPr lang="en-US" sz="1300" dirty="0">
                <a:solidFill>
                  <a:srgbClr val="1B2A2F"/>
                </a:solidFill>
              </a:rPr>
              <a:t>Cada perro está en una sola partición. Método y umbral se eligieron con validación; la prueba se usó una sola vez.</a:t>
            </a:r>
            <a:endParaRPr lang="en-US" sz="1500" dirty="0"/>
          </a:p>
        </p:txBody>
      </p:sp>
      <p:sp>
        <p:nvSpPr>
          <p:cNvPr id="9" name="faq-card-4"/>
          <p:cNvSpPr/>
          <p:nvPr/>
        </p:nvSpPr>
        <p:spPr>
          <a:xfrm>
            <a:off x="6172200" y="2926080"/>
            <a:ext cx="5440680" cy="1463040"/>
          </a:xfrm>
          <a:prstGeom prst="roundRect">
            <a:avLst>
              <a:gd name="adj" fmla="val 6250"/>
            </a:avLst>
          </a:prstGeom>
          <a:solidFill>
            <a:srgbClr val="EEF4F2"/>
          </a:solidFill>
          <a:ln/>
        </p:spPr>
      </p:sp>
      <p:sp>
        <p:nvSpPr>
          <p:cNvPr id="10" name="faq-text-4"/>
          <p:cNvSpPr txBox="1"/>
          <p:nvPr/>
        </p:nvSpPr>
        <p:spPr>
          <a:xfrm>
            <a:off x="6400800" y="3035808"/>
            <a:ext cx="4983480" cy="1243584"/>
          </a:xfrm>
          <a:prstGeom prst="rect">
            <a:avLst/>
          </a:prstGeom>
          <a:noFill/>
          <a:ln/>
        </p:spPr>
        <p:txBody>
          <a:bodyPr wrap="square" lIns="0" tIns="0" rIns="0" bIns="0" rtlCol="0" anchor="t"/>
          <a:lstStyle/>
          <a:p>
            <a:pPr indent="0" marL="0">
              <a:spcAft>
                <a:spcPts val="400"/>
              </a:spcAft>
              <a:buNone/>
            </a:pPr>
            <a:r>
              <a:rPr lang="en-US" sz="1500" b="1" dirty="0">
                <a:solidFill>
                  <a:srgbClr val="1F4E4A"/>
                </a:solidFill>
              </a:rPr>
              <a:t>¿Por qué el FAR fue 8,8 % y no 5 %?</a:t>
            </a:r>
            <a:endParaRPr lang="en-US" sz="1500" dirty="0"/>
          </a:p>
          <a:p>
            <a:pPr indent="0" marL="0">
              <a:spcAft>
                <a:spcPts val="400"/>
              </a:spcAft>
              <a:buNone/>
            </a:pPr>
            <a:r>
              <a:rPr lang="en-US" sz="1300" dirty="0">
                <a:solidFill>
                  <a:srgbClr val="1B2A2F"/>
                </a:solidFill>
              </a:rPr>
              <a:t>El umbral se calibró con otros perros; con perros nuevos varía. No se corrigió con la prueba para no sesgar el resultado.</a:t>
            </a:r>
            <a:endParaRPr lang="en-US" sz="1500" dirty="0"/>
          </a:p>
        </p:txBody>
      </p:sp>
      <p:sp>
        <p:nvSpPr>
          <p:cNvPr id="11" name="faq-card-5"/>
          <p:cNvSpPr/>
          <p:nvPr/>
        </p:nvSpPr>
        <p:spPr>
          <a:xfrm>
            <a:off x="548640" y="4526280"/>
            <a:ext cx="5440680" cy="1463040"/>
          </a:xfrm>
          <a:prstGeom prst="roundRect">
            <a:avLst>
              <a:gd name="adj" fmla="val 6250"/>
            </a:avLst>
          </a:prstGeom>
          <a:solidFill>
            <a:srgbClr val="EEF4F2"/>
          </a:solidFill>
          <a:ln/>
        </p:spPr>
      </p:sp>
      <p:sp>
        <p:nvSpPr>
          <p:cNvPr id="12" name="faq-text-5"/>
          <p:cNvSpPr txBox="1"/>
          <p:nvPr/>
        </p:nvSpPr>
        <p:spPr>
          <a:xfrm>
            <a:off x="777240" y="4636008"/>
            <a:ext cx="4983480" cy="1243584"/>
          </a:xfrm>
          <a:prstGeom prst="rect">
            <a:avLst/>
          </a:prstGeom>
          <a:noFill/>
          <a:ln/>
        </p:spPr>
        <p:txBody>
          <a:bodyPr wrap="square" lIns="0" tIns="0" rIns="0" bIns="0" rtlCol="0" anchor="t"/>
          <a:lstStyle/>
          <a:p>
            <a:pPr indent="0" marL="0">
              <a:spcAft>
                <a:spcPts val="400"/>
              </a:spcAft>
              <a:buNone/>
            </a:pPr>
            <a:r>
              <a:rPr lang="en-US" sz="1500" b="1" dirty="0">
                <a:solidFill>
                  <a:srgbClr val="1F4E4A"/>
                </a:solidFill>
              </a:rPr>
              <a:t>¿Funciona con cualquier foto?</a:t>
            </a:r>
            <a:endParaRPr lang="en-US" sz="1500" dirty="0"/>
          </a:p>
          <a:p>
            <a:pPr indent="0" marL="0">
              <a:spcAft>
                <a:spcPts val="400"/>
              </a:spcAft>
              <a:buNone/>
            </a:pPr>
            <a:r>
              <a:rPr lang="en-US" sz="1300" dirty="0">
                <a:solidFill>
                  <a:srgbClr val="1B2A2F"/>
                </a:solidFill>
              </a:rPr>
              <a:t>Solo con la cara del perro centrada: no hay detector de rostros. No sirve para gatos.</a:t>
            </a:r>
            <a:endParaRPr lang="en-US" sz="1500" dirty="0"/>
          </a:p>
        </p:txBody>
      </p:sp>
      <p:sp>
        <p:nvSpPr>
          <p:cNvPr id="13" name="faq-card-6"/>
          <p:cNvSpPr/>
          <p:nvPr/>
        </p:nvSpPr>
        <p:spPr>
          <a:xfrm>
            <a:off x="6172200" y="4526280"/>
            <a:ext cx="5440680" cy="1463040"/>
          </a:xfrm>
          <a:prstGeom prst="roundRect">
            <a:avLst>
              <a:gd name="adj" fmla="val 6250"/>
            </a:avLst>
          </a:prstGeom>
          <a:solidFill>
            <a:srgbClr val="EEF4F2"/>
          </a:solidFill>
          <a:ln/>
        </p:spPr>
      </p:sp>
      <p:sp>
        <p:nvSpPr>
          <p:cNvPr id="14" name="faq-text-6"/>
          <p:cNvSpPr txBox="1"/>
          <p:nvPr/>
        </p:nvSpPr>
        <p:spPr>
          <a:xfrm>
            <a:off x="6400800" y="4636008"/>
            <a:ext cx="4983480" cy="1243584"/>
          </a:xfrm>
          <a:prstGeom prst="rect">
            <a:avLst/>
          </a:prstGeom>
          <a:noFill/>
          <a:ln/>
        </p:spPr>
        <p:txBody>
          <a:bodyPr wrap="square" lIns="0" tIns="0" rIns="0" bIns="0" rtlCol="0" anchor="t"/>
          <a:lstStyle/>
          <a:p>
            <a:pPr indent="0" marL="0">
              <a:spcAft>
                <a:spcPts val="400"/>
              </a:spcAft>
              <a:buNone/>
            </a:pPr>
            <a:r>
              <a:rPr lang="en-US" sz="1500" b="1" dirty="0">
                <a:solidFill>
                  <a:srgbClr val="1F4E4A"/>
                </a:solidFill>
              </a:rPr>
              <a:t>¿Qué mejorarías?</a:t>
            </a:r>
            <a:endParaRPr lang="en-US" sz="1500" dirty="0"/>
          </a:p>
          <a:p>
            <a:pPr indent="0" marL="0">
              <a:spcAft>
                <a:spcPts val="400"/>
              </a:spcAft>
              <a:buNone/>
            </a:pPr>
            <a:r>
              <a:rPr lang="en-US" sz="1300" dirty="0">
                <a:solidFill>
                  <a:srgbClr val="1B2A2F"/>
                </a:solidFill>
              </a:rPr>
              <a:t>Más perros (+2 puntos cada vez que se duplican), un detector de rostros y extractores más modernos.</a:t>
            </a:r>
            <a:endParaRPr lang="en-US" sz="15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F6E6C"/>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Encontré una mascota</dc:title>
  <dc:subject>PptxGenJS Presentation</dc:subject>
  <dc:creator>Imer Vladimir Coaguila Patiño</dc:creator>
  <cp:lastModifiedBy>Imer Vladimir Coaguila Patiño</cp:lastModifiedBy>
  <cp:revision>1</cp:revision>
  <dcterms:created xsi:type="dcterms:W3CDTF">2026-10-10T21:34:13Z</dcterms:created>
  <dcterms:modified xsi:type="dcterms:W3CDTF">2026-10-10T21:34:13Z</dcterms:modified>
</cp:coreProperties>
</file>